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about one practical question: if you left the lab tomorrow, could someone else find, open, understand, and legally reuse your data? FAIR is the name for the four things that make that true: Findable, Accessible, Interoperable, Reusable. I will keep it hands-on. By the end you will have a folder layout, a naming rule, a short list of formats, and a tool that does most of the work for you. About 20 minutes, then we try it on one real dataset.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a story most of us have lived. A student finishes a drone LiDAR project. The paper says data available upon request. Two years later a reviewer or a new student asks for it. The person who made it is gone. The folder looks like this: final, v3, REAL, copy one. Nobody knows which flight each file came from, which plots are which genotypes, or what coordinate system the points are in. The files are not lost. The context is lost. FAIR is the habit of writing that context down while you still remember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this matter now and not ten years ago? Because it became a rule. In August 2022 the White House science office told every federal agency, including USDA and NSF, to make publications and the data behind them public with no embargo. The highlighted line is the key part. Agencies had to publish new policies by the end of 2024 and put them in effect by the end of 2025. So every grant we write from here on needs a real data management plan, and reviewers will check it. Machine learning venues are doing the same thing: NeurIPS now requires a Croissant metadata file for dataset papers. And the cost of not doing this is large. The European Commission estimated at least 10 billion euros a year.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easiest way to remember FAIR is a library. A book is findable because it has a call number and a catalog card. It is accessible because there are clear rules for borrowing it, and the catalog card stays even if the book is lost. It is interoperable because it is written in a language you can read. And it is reusable because the copyright page tells you the edition, the author, and what you are allowed to do with it. Our datasets need the same four things: a DOI, open formats, shared vocabulary for traits, a license, and a record of how the data was made. One important point: FAIR does not mean open. Our industry genotype data can stay private and still be FAIR, as long as the description is public and the access rule is clear.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actual 15 principles from the 2016 paper by Wilkinson and colleagues, retyped from the published list. You do not need to memorize them. Notice that about half are handled for us the moment we deposit data in a real repository: the DOI, the search index, the download protocol, and keeping the description online. The ones in yellow are our job, and the repository cannot do them for us: describe the data richly, use shared words for traits, pick a license, record how the data was made, and follow our field's standards, which for plant phenotyping is MIAPPE. The blue one, A1.2, is why private data can still be FAIR.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principles have one unusual idea: they are written for computers as much as for people. The highlighted phrase says the goal is that software can find, access, combine, and reuse data with little or no human help. That is why a nice README in plain English is not enough. Search engines read structured metadata. Our own scripts can only grab, say, all the LiDAR from session three if the folders and names follow a rule. And AI agents, which many of us now use, can load a dataset described in Croissant without asking anyone. So the rules I show next are really about making our data machine-readable.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know if we did a good job? Score each of the 15 sub-principles as zero, half, or one. The simple score is the average. But the average hides something. To reuse data, someone has to find it, and open it, and read it, and trust it. When steps are joined by AND, you multiply. So I also show the product of the four letter scores. For our LiDAR example, the folder on Google Drive scores 27 percent on average, which sounds bad but not hopeless. The product is 0.0026, which says almost nobody will ever reuse it. After we add a DOI, MIAPPE and Croissant metadata, and a license, the average is 93 percent and the product jumps 280 times. Lesson: fix your worst letter first. For most of us that is F, findable. This product is a teaching model, not an official metric.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one is a single folder layout for every project. The numbers are the reading order for someone new. Zero zero is docs: what is this. Zero one is metadata: the plot map and calibration you need to make sense of anything else. Zero two is raw data straight off each sensor. Zero three is what we processed from it. Zero four is the final results that go into papers. Zero five is the code. Inside each folder, data types are numbered in pipeline order. And one hard rule: never edit anything in raw. If processed data is lost, we can rebuild it from raw plus code. If raw is changed, we cannot.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two is about names. Dates always go year, month, day, so files sort in time order on any computer. Each field day gets one session number, and that number is the same for every sensor, so session one means July fourteenth whether you are looking at drone photos or LiDAR. No spaces, and never final, v3, REAL, or copy in a name: that is what version control and the README are for. Keep names that already carry meaning, like the DJI timestamp names. Only rename meaningless ones like IMG underscore four five two one. The table shows real examples from our demo folder. You will not do this by hand; the tool on the next slides does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three: use open formats, and keep the context that makes them readable. A LiDAR file without its coordinate system is a cloud of meaningless numbers. A hyperspectral cube without its wavelength list cannot be compared to anything. A Gaussian splat without camera poses and settings cannot be reproduced. So for each data type, this table lists the format and what must travel with it. On top of that we use three community standards: MIAPPE to describe the plant experiment, Croissant to describe a dataset for machine learning, and Crop Ontology so a trait like plant height has one agreed definition and ID.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Doing all of this by hand is boring, so I built a tool. It is a web page called FAIR Folder Curator. You drop a messy folder into it. It reads only file names, sizes, dates, and the metadata stored inside files, like GPS and capture time from drone photos, the coordinate system from LiDAR, and the wavelength list from hyperspectral headers. Everything is read on your own computer; nothing is uploaded. Then a curator agent asks a few questions about what it cannot see, such as which files are raw and which are processed. This screen is the built-in example folder, which is made 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interview, the tool proposes the numbered layout you saw earlier, with a session calendar so everyone knows that session one is July fourteenth. You can edit any of it. Then it gives you a small Python script. Run it once and it only shows you what it would do. Add dash dash apply and it copies everything into the new layout, leaving your originals alone. It writes a manifest that maps every old path to its new one, so dash dash undo can reverse it. It also writes the README, the MIAPPE sheet, the Croissant file, and a FAIR score report.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Organizing the folder gets us about halfway. The last mile is four steps. Pick a license: CC BY for data and MIT for code are the usual choices; with no license, nobody may legally reuse the data. Deposit it in a repository that gives a DOI; ISU DataShare, Zenodo, and CyVerse all work, and Hugging Face is good for machine-learning datasets. Check it with F-UJI, a free tool that tests a DOI against the FAIR principles. And cite the DOI in your paper. A large study of PLOS and BMC papers found that papers linking their data in a repository got up to a quarter more citations. That is a correlation, not proof, but it points the right way. On the right is the tool's own score table: after organizing, then projected after deposit.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homework. Pick one dataset you own. Put it through the tool and answer its questions. Preview, then apply the script. Fill in the blanks in the README it writes: processing steps, license, trait IDs. And bring your before and after score to the next group meeting so we can compare. Everything from today is in one GitHub repository. If you remember one line, remember this: FAIR means a stranger, or a script, can find, open, understand, and legally reuse your data without emailing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0936" y="685800"/>
            <a:ext cx="7882127" cy="274320"/>
          </a:xfrm>
          <a:prstGeom prst="rect">
            <a:avLst/>
          </a:prstGeom>
          <a:noFill/>
        </p:spPr>
        <p:txBody>
          <a:bodyPr wrap="square" anchor="t" lIns="36576" rIns="36576" tIns="18288" bIns="18288">
            <a:spAutoFit/>
          </a:bodyPr>
          <a:lstStyle/>
          <a:p>
            <a:r>
              <a:rPr sz="1050" b="1">
                <a:solidFill>
                  <a:srgbClr val="0060C0"/>
                </a:solidFill>
                <a:latin typeface="Open Sans"/>
              </a:rPr>
              <a:t>GROUP MEETING  ·  DATA STEWARDSHIP</a:t>
            </a:r>
          </a:p>
        </p:txBody>
      </p:sp>
      <p:sp>
        <p:nvSpPr>
          <p:cNvPr id="4" name="TextBox 3"/>
          <p:cNvSpPr txBox="1"/>
          <p:nvPr/>
        </p:nvSpPr>
        <p:spPr>
          <a:xfrm>
            <a:off x="630936" y="960120"/>
            <a:ext cx="7882127" cy="777240"/>
          </a:xfrm>
          <a:prstGeom prst="rect">
            <a:avLst/>
          </a:prstGeom>
          <a:noFill/>
        </p:spPr>
        <p:txBody>
          <a:bodyPr wrap="square" anchor="b" lIns="36576" rIns="36576" tIns="18288" bIns="18288">
            <a:spAutoFit/>
          </a:bodyPr>
          <a:lstStyle/>
          <a:p>
            <a:r>
              <a:rPr sz="3200" b="1">
                <a:solidFill>
                  <a:srgbClr val="C8102E"/>
                </a:solidFill>
                <a:latin typeface="Merriweather"/>
              </a:rPr>
              <a:t>FAIR Data Curation for Our Lab</a:t>
            </a:r>
          </a:p>
        </p:txBody>
      </p:sp>
      <p:cxnSp>
        <p:nvCxnSpPr>
          <p:cNvPr id="5" name="Connector 4"/>
          <p:cNvCxnSpPr/>
          <p:nvPr/>
        </p:nvCxnSpPr>
        <p:spPr>
          <a:xfrm>
            <a:off x="630936" y="1847088"/>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938528"/>
            <a:ext cx="7882127" cy="640080"/>
          </a:xfrm>
          <a:prstGeom prst="rect">
            <a:avLst/>
          </a:prstGeom>
          <a:noFill/>
        </p:spPr>
        <p:txBody>
          <a:bodyPr wrap="square" anchor="t" lIns="36576" rIns="36576" tIns="18288" bIns="18288">
            <a:spAutoFit/>
          </a:bodyPr>
          <a:lstStyle/>
          <a:p>
            <a:r>
              <a:rPr sz="1700" b="0">
                <a:solidFill>
                  <a:srgbClr val="6E6259"/>
                </a:solidFill>
                <a:latin typeface="Open Sans"/>
              </a:rPr>
              <a:t>Making our phenotyping data findable, usable, and ready for USDA and NSF data sharing</a:t>
            </a:r>
          </a:p>
        </p:txBody>
      </p:sp>
      <p:sp>
        <p:nvSpPr>
          <p:cNvPr id="7" name="Rectangle 6"/>
          <p:cNvSpPr/>
          <p:nvPr/>
        </p:nvSpPr>
        <p:spPr>
          <a:xfrm>
            <a:off x="630936" y="2788920"/>
            <a:ext cx="1847088" cy="13258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834640"/>
            <a:ext cx="640080" cy="731520"/>
          </a:xfrm>
          <a:prstGeom prst="rect">
            <a:avLst/>
          </a:prstGeom>
          <a:noFill/>
        </p:spPr>
        <p:txBody>
          <a:bodyPr wrap="square" anchor="t" lIns="36576" rIns="36576" tIns="18288" bIns="18288">
            <a:spAutoFit/>
          </a:bodyPr>
          <a:lstStyle/>
          <a:p>
            <a:r>
              <a:rPr sz="4000" b="1">
                <a:solidFill>
                  <a:srgbClr val="C8102E"/>
                </a:solidFill>
                <a:latin typeface="Merriweather"/>
              </a:rPr>
              <a:t>F</a:t>
            </a:r>
          </a:p>
        </p:txBody>
      </p:sp>
      <p:sp>
        <p:nvSpPr>
          <p:cNvPr id="9" name="TextBox 8"/>
          <p:cNvSpPr txBox="1"/>
          <p:nvPr/>
        </p:nvSpPr>
        <p:spPr>
          <a:xfrm>
            <a:off x="768096" y="3520440"/>
            <a:ext cx="1618488" cy="548640"/>
          </a:xfrm>
          <a:prstGeom prst="rect">
            <a:avLst/>
          </a:prstGeom>
          <a:noFill/>
        </p:spPr>
        <p:txBody>
          <a:bodyPr wrap="square" anchor="t" lIns="36576" rIns="36576" tIns="18288" bIns="18288">
            <a:spAutoFit/>
          </a:bodyPr>
          <a:lstStyle/>
          <a:p>
            <a:r>
              <a:rPr sz="1300" b="1">
                <a:solidFill>
                  <a:srgbClr val="1B3A5C"/>
                </a:solidFill>
                <a:latin typeface="Open Sans"/>
              </a:rPr>
              <a:t>Findable</a:t>
            </a:r>
          </a:p>
          <a:p>
            <a:r>
              <a:rPr sz="1050" b="0">
                <a:solidFill>
                  <a:srgbClr val="6E6259"/>
                </a:solidFill>
                <a:latin typeface="Open Sans"/>
              </a:rPr>
              <a:t>someone can locate it</a:t>
            </a:r>
          </a:p>
        </p:txBody>
      </p:sp>
      <p:sp>
        <p:nvSpPr>
          <p:cNvPr id="10" name="Rectangle 9"/>
          <p:cNvSpPr/>
          <p:nvPr/>
        </p:nvSpPr>
        <p:spPr>
          <a:xfrm>
            <a:off x="2642616" y="2788920"/>
            <a:ext cx="1847088" cy="132588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79776" y="2834640"/>
            <a:ext cx="640080" cy="731520"/>
          </a:xfrm>
          <a:prstGeom prst="rect">
            <a:avLst/>
          </a:prstGeom>
          <a:noFill/>
        </p:spPr>
        <p:txBody>
          <a:bodyPr wrap="square" anchor="t" lIns="36576" rIns="36576" tIns="18288" bIns="18288">
            <a:spAutoFit/>
          </a:bodyPr>
          <a:lstStyle/>
          <a:p>
            <a:r>
              <a:rPr sz="4000" b="1">
                <a:solidFill>
                  <a:srgbClr val="C8102E"/>
                </a:solidFill>
                <a:latin typeface="Merriweather"/>
              </a:rPr>
              <a:t>A</a:t>
            </a:r>
          </a:p>
        </p:txBody>
      </p:sp>
      <p:sp>
        <p:nvSpPr>
          <p:cNvPr id="12" name="TextBox 11"/>
          <p:cNvSpPr txBox="1"/>
          <p:nvPr/>
        </p:nvSpPr>
        <p:spPr>
          <a:xfrm>
            <a:off x="2779776" y="3520440"/>
            <a:ext cx="1618488" cy="548640"/>
          </a:xfrm>
          <a:prstGeom prst="rect">
            <a:avLst/>
          </a:prstGeom>
          <a:noFill/>
        </p:spPr>
        <p:txBody>
          <a:bodyPr wrap="square" anchor="t" lIns="36576" rIns="36576" tIns="18288" bIns="18288">
            <a:spAutoFit/>
          </a:bodyPr>
          <a:lstStyle/>
          <a:p>
            <a:r>
              <a:rPr sz="1300" b="1">
                <a:solidFill>
                  <a:srgbClr val="1B3A5C"/>
                </a:solidFill>
                <a:latin typeface="Open Sans"/>
              </a:rPr>
              <a:t>Accessible</a:t>
            </a:r>
          </a:p>
          <a:p>
            <a:r>
              <a:rPr sz="1050" b="0">
                <a:solidFill>
                  <a:srgbClr val="6E6259"/>
                </a:solidFill>
                <a:latin typeface="Open Sans"/>
              </a:rPr>
              <a:t>they can open it</a:t>
            </a:r>
          </a:p>
        </p:txBody>
      </p:sp>
      <p:sp>
        <p:nvSpPr>
          <p:cNvPr id="13" name="Rectangle 12"/>
          <p:cNvSpPr/>
          <p:nvPr/>
        </p:nvSpPr>
        <p:spPr>
          <a:xfrm>
            <a:off x="4654296" y="2788920"/>
            <a:ext cx="1847088" cy="1325880"/>
          </a:xfrm>
          <a:prstGeom prst="rect">
            <a:avLst/>
          </a:prstGeom>
          <a:solidFill>
            <a:srgbClr val="D4E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91456" y="2834640"/>
            <a:ext cx="640080" cy="731520"/>
          </a:xfrm>
          <a:prstGeom prst="rect">
            <a:avLst/>
          </a:prstGeom>
          <a:noFill/>
        </p:spPr>
        <p:txBody>
          <a:bodyPr wrap="square" anchor="t" lIns="36576" rIns="36576" tIns="18288" bIns="18288">
            <a:spAutoFit/>
          </a:bodyPr>
          <a:lstStyle/>
          <a:p>
            <a:r>
              <a:rPr sz="4000" b="1">
                <a:solidFill>
                  <a:srgbClr val="C8102E"/>
                </a:solidFill>
                <a:latin typeface="Merriweather"/>
              </a:rPr>
              <a:t>I</a:t>
            </a:r>
          </a:p>
        </p:txBody>
      </p:sp>
      <p:sp>
        <p:nvSpPr>
          <p:cNvPr id="15" name="TextBox 14"/>
          <p:cNvSpPr txBox="1"/>
          <p:nvPr/>
        </p:nvSpPr>
        <p:spPr>
          <a:xfrm>
            <a:off x="4791456" y="3520440"/>
            <a:ext cx="1618488" cy="548640"/>
          </a:xfrm>
          <a:prstGeom prst="rect">
            <a:avLst/>
          </a:prstGeom>
          <a:noFill/>
        </p:spPr>
        <p:txBody>
          <a:bodyPr wrap="square" anchor="t" lIns="36576" rIns="36576" tIns="18288" bIns="18288">
            <a:spAutoFit/>
          </a:bodyPr>
          <a:lstStyle/>
          <a:p>
            <a:r>
              <a:rPr sz="1300" b="1">
                <a:solidFill>
                  <a:srgbClr val="1B3A5C"/>
                </a:solidFill>
                <a:latin typeface="Open Sans"/>
              </a:rPr>
              <a:t>Interoperable</a:t>
            </a:r>
          </a:p>
          <a:p>
            <a:r>
              <a:rPr sz="1050" b="0">
                <a:solidFill>
                  <a:srgbClr val="6E6259"/>
                </a:solidFill>
                <a:latin typeface="Open Sans"/>
              </a:rPr>
              <a:t>their tools can read it</a:t>
            </a:r>
          </a:p>
        </p:txBody>
      </p:sp>
      <p:sp>
        <p:nvSpPr>
          <p:cNvPr id="16" name="Rectangle 15"/>
          <p:cNvSpPr/>
          <p:nvPr/>
        </p:nvSpPr>
        <p:spPr>
          <a:xfrm>
            <a:off x="6665976" y="2788920"/>
            <a:ext cx="1847088" cy="13258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2834640"/>
            <a:ext cx="640080" cy="731520"/>
          </a:xfrm>
          <a:prstGeom prst="rect">
            <a:avLst/>
          </a:prstGeom>
          <a:noFill/>
        </p:spPr>
        <p:txBody>
          <a:bodyPr wrap="square" anchor="t" lIns="36576" rIns="36576" tIns="18288" bIns="18288">
            <a:spAutoFit/>
          </a:bodyPr>
          <a:lstStyle/>
          <a:p>
            <a:r>
              <a:rPr sz="4000" b="1">
                <a:solidFill>
                  <a:srgbClr val="C8102E"/>
                </a:solidFill>
                <a:latin typeface="Merriweather"/>
              </a:rPr>
              <a:t>R</a:t>
            </a:r>
          </a:p>
        </p:txBody>
      </p:sp>
      <p:sp>
        <p:nvSpPr>
          <p:cNvPr id="18" name="TextBox 17"/>
          <p:cNvSpPr txBox="1"/>
          <p:nvPr/>
        </p:nvSpPr>
        <p:spPr>
          <a:xfrm>
            <a:off x="6803136" y="3520440"/>
            <a:ext cx="1618488" cy="548640"/>
          </a:xfrm>
          <a:prstGeom prst="rect">
            <a:avLst/>
          </a:prstGeom>
          <a:noFill/>
        </p:spPr>
        <p:txBody>
          <a:bodyPr wrap="square" anchor="t" lIns="36576" rIns="36576" tIns="18288" bIns="18288">
            <a:spAutoFit/>
          </a:bodyPr>
          <a:lstStyle/>
          <a:p>
            <a:r>
              <a:rPr sz="1300" b="1">
                <a:solidFill>
                  <a:srgbClr val="1B3A5C"/>
                </a:solidFill>
                <a:latin typeface="Open Sans"/>
              </a:rPr>
              <a:t>Reusable</a:t>
            </a:r>
          </a:p>
          <a:p>
            <a:r>
              <a:rPr sz="1050" b="0">
                <a:solidFill>
                  <a:srgbClr val="6E6259"/>
                </a:solidFill>
                <a:latin typeface="Open Sans"/>
              </a:rPr>
              <a:t>they know how, and may</a:t>
            </a:r>
          </a:p>
        </p:txBody>
      </p:sp>
      <p:sp>
        <p:nvSpPr>
          <p:cNvPr id="19" name="TextBox 18"/>
          <p:cNvSpPr txBox="1"/>
          <p:nvPr/>
        </p:nvSpPr>
        <p:spPr>
          <a:xfrm>
            <a:off x="630936" y="4389120"/>
            <a:ext cx="7882127" cy="411480"/>
          </a:xfrm>
          <a:prstGeom prst="rect">
            <a:avLst/>
          </a:prstGeom>
          <a:noFill/>
        </p:spPr>
        <p:txBody>
          <a:bodyPr wrap="square" anchor="t" lIns="36576" rIns="36576" tIns="18288" bIns="18288">
            <a:spAutoFit/>
          </a:bodyPr>
          <a:lstStyle/>
          <a:p>
            <a:r>
              <a:rPr sz="1100" b="0">
                <a:solidFill>
                  <a:srgbClr val="6E6259"/>
                </a:solidFill>
                <a:latin typeface="Open Sans"/>
              </a:rPr>
              <a:t>Zaki Jubery  ·  Agricultural &amp; Biosystems Engineering and Translational AI Center  ·  Iowa State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0936" y="365760"/>
            <a:ext cx="7882127" cy="603504"/>
          </a:xfrm>
          <a:prstGeom prst="rect">
            <a:avLst/>
          </a:prstGeom>
          <a:noFill/>
        </p:spPr>
        <p:txBody>
          <a:bodyPr wrap="square" anchor="b" lIns="36576" rIns="36576" tIns="18288" bIns="18288">
            <a:spAutoFit/>
          </a:bodyPr>
          <a:lstStyle/>
          <a:p>
            <a:r>
              <a:rPr sz="2200" b="1">
                <a:solidFill>
                  <a:srgbClr val="C8102E"/>
                </a:solidFill>
                <a:latin typeface="Merriweather"/>
              </a:rPr>
              <a:t>The dataset that disappeared</a:t>
            </a:r>
          </a:p>
        </p:txBody>
      </p:sp>
      <p:cxnSp>
        <p:nvCxnSpPr>
          <p:cNvPr id="3" name="Connector 2"/>
          <p:cNvCxnSpPr/>
          <p:nvPr/>
        </p:nvCxnSpPr>
        <p:spPr>
          <a:xfrm>
            <a:off x="630936" y="1028700"/>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936" y="4846320"/>
            <a:ext cx="7882127" cy="228600"/>
          </a:xfrm>
          <a:prstGeom prst="rect">
            <a:avLst/>
          </a:prstGeom>
          <a:noFill/>
        </p:spPr>
        <p:txBody>
          <a:bodyPr wrap="square" anchor="t" lIns="36576" rIns="36576" tIns="18288" bIns="18288">
            <a:spAutoFit/>
          </a:bodyPr>
          <a:lstStyle/>
          <a:p>
            <a:r>
              <a:rPr sz="800" b="0">
                <a:solidFill>
                  <a:srgbClr val="8C97A6"/>
                </a:solidFill>
                <a:latin typeface="Open Sans"/>
              </a:rPr>
              <a:t>FAIR Data Curation  ·  ISU TrAC</a:t>
            </a:r>
          </a:p>
        </p:txBody>
      </p:sp>
      <p:sp>
        <p:nvSpPr>
          <p:cNvPr id="5" name="TextBox 4"/>
          <p:cNvSpPr txBox="1"/>
          <p:nvPr/>
        </p:nvSpPr>
        <p:spPr>
          <a:xfrm>
            <a:off x="7863840" y="4846320"/>
            <a:ext cx="649224" cy="228600"/>
          </a:xfrm>
          <a:prstGeom prst="rect">
            <a:avLst/>
          </a:prstGeom>
          <a:noFill/>
        </p:spPr>
        <p:txBody>
          <a:bodyPr wrap="square" anchor="t" lIns="36576" rIns="36576" tIns="18288" bIns="18288">
            <a:spAutoFit/>
          </a:bodyPr>
          <a:lstStyle/>
          <a:p>
            <a:pPr algn="r"/>
            <a:r>
              <a:rPr sz="800" b="0">
                <a:solidFill>
                  <a:srgbClr val="8C97A6"/>
                </a:solidFill>
                <a:latin typeface="Open Sans"/>
              </a:rPr>
              <a:t>2</a:t>
            </a:r>
          </a:p>
        </p:txBody>
      </p:sp>
      <p:sp>
        <p:nvSpPr>
          <p:cNvPr id="6" name="TextBox 5"/>
          <p:cNvSpPr txBox="1"/>
          <p:nvPr/>
        </p:nvSpPr>
        <p:spPr>
          <a:xfrm>
            <a:off x="630936" y="1280160"/>
            <a:ext cx="3931920" cy="2377440"/>
          </a:xfrm>
          <a:prstGeom prst="rect">
            <a:avLst/>
          </a:prstGeom>
          <a:noFill/>
        </p:spPr>
        <p:txBody>
          <a:bodyPr wrap="square" anchor="t" lIns="36576" rIns="36576" tIns="18288" bIns="18288">
            <a:spAutoFit/>
          </a:bodyPr>
          <a:lstStyle/>
          <a:p>
            <a:pPr algn="l">
              <a:spcAft>
                <a:spcPts val="437"/>
              </a:spcAft>
            </a:pPr>
            <a:r>
              <a:rPr sz="1250" b="0">
                <a:solidFill>
                  <a:srgbClr val="6E6259"/>
                </a:solidFill>
                <a:latin typeface="Open Sans"/>
              </a:rPr>
              <a:t>A student finishes a UAV-LiDAR maize project. The paper says </a:t>
            </a:r>
            <a:r>
              <a:rPr sz="1250" b="1">
                <a:solidFill>
                  <a:srgbClr val="222222"/>
                </a:solidFill>
                <a:latin typeface="Open Sans"/>
              </a:rPr>
              <a:t>"data available upon request."</a:t>
            </a:r>
          </a:p>
          <a:p>
            <a:pPr algn="l">
              <a:spcAft>
                <a:spcPts val="437"/>
              </a:spcAft>
            </a:pPr>
            <a:r>
              <a:rPr sz="1250" b="0">
                <a:solidFill>
                  <a:srgbClr val="6E6259"/>
                </a:solidFill>
                <a:latin typeface="Open Sans"/>
              </a:rPr>
              <a:t>Two years later a reviewer asks for it. The student has graduated.</a:t>
            </a:r>
          </a:p>
          <a:p>
            <a:pPr algn="l">
              <a:spcAft>
                <a:spcPts val="437"/>
              </a:spcAft>
            </a:pPr>
            <a:r>
              <a:rPr sz="1250" b="0">
                <a:solidFill>
                  <a:srgbClr val="6E6259"/>
                </a:solidFill>
                <a:latin typeface="Open Sans"/>
              </a:rPr>
              <a:t>The shared link opens a folder like the one on the right.</a:t>
            </a:r>
          </a:p>
          <a:p>
            <a:pPr algn="l">
              <a:spcBef>
                <a:spcPts val="687"/>
              </a:spcBef>
              <a:spcAft>
                <a:spcPts val="100"/>
              </a:spcAft>
            </a:pPr>
            <a:r>
              <a:rPr sz="1300" b="1">
                <a:solidFill>
                  <a:srgbClr val="1B3A5C"/>
                </a:solidFill>
                <a:latin typeface="Open Sans"/>
              </a:rPr>
              <a:t>Questions nobody can answer now</a:t>
            </a:r>
          </a:p>
          <a:p>
            <a:pPr algn="l" marL="182880" indent="-182880">
              <a:spcAft>
                <a:spcPts val="437"/>
              </a:spcAft>
              <a:buClr>
                <a:srgbClr val="CE1126"/>
              </a:buClr>
              <a:buFont typeface="Arial"/>
              <a:buChar char="•"/>
            </a:pPr>
            <a:r>
              <a:rPr sz="1250" b="0">
                <a:solidFill>
                  <a:srgbClr val="6E6259"/>
                </a:solidFill>
                <a:latin typeface="Open Sans"/>
              </a:rPr>
              <a:t>Which flight date is each cloud from?</a:t>
            </a:r>
          </a:p>
          <a:p>
            <a:pPr algn="l" marL="182880" indent="-182880">
              <a:spcAft>
                <a:spcPts val="437"/>
              </a:spcAft>
              <a:buClr>
                <a:srgbClr val="CE1126"/>
              </a:buClr>
              <a:buFont typeface="Arial"/>
              <a:buChar char="•"/>
            </a:pPr>
            <a:r>
              <a:rPr sz="1250" b="0">
                <a:solidFill>
                  <a:srgbClr val="6E6259"/>
                </a:solidFill>
                <a:latin typeface="Open Sans"/>
              </a:rPr>
              <a:t>Which plot and genotype is which?</a:t>
            </a:r>
          </a:p>
          <a:p>
            <a:pPr algn="l" marL="182880" indent="-182880">
              <a:spcAft>
                <a:spcPts val="437"/>
              </a:spcAft>
              <a:buClr>
                <a:srgbClr val="CE1126"/>
              </a:buClr>
              <a:buFont typeface="Arial"/>
              <a:buChar char="•"/>
            </a:pPr>
            <a:r>
              <a:rPr sz="1250" b="0">
                <a:solidFill>
                  <a:srgbClr val="6E6259"/>
                </a:solidFill>
                <a:latin typeface="Open Sans"/>
              </a:rPr>
              <a:t>Which coordinate system? Which software?</a:t>
            </a:r>
          </a:p>
          <a:p>
            <a:pPr algn="l" marL="182880" indent="-182880">
              <a:spcAft>
                <a:spcPts val="437"/>
              </a:spcAft>
              <a:buClr>
                <a:srgbClr val="CE1126"/>
              </a:buClr>
              <a:buFont typeface="Arial"/>
              <a:buChar char="•"/>
            </a:pPr>
            <a:r>
              <a:rPr sz="1250" b="0">
                <a:solidFill>
                  <a:srgbClr val="6E6259"/>
                </a:solidFill>
                <a:latin typeface="Open Sans"/>
              </a:rPr>
              <a:t>Who is allowed to reuse it?</a:t>
            </a:r>
          </a:p>
        </p:txBody>
      </p:sp>
      <p:sp>
        <p:nvSpPr>
          <p:cNvPr id="7" name="Rectangle 6"/>
          <p:cNvSpPr/>
          <p:nvPr/>
        </p:nvSpPr>
        <p:spPr>
          <a:xfrm>
            <a:off x="4800600" y="1325880"/>
            <a:ext cx="3712463" cy="2240280"/>
          </a:xfrm>
          <a:prstGeom prst="rect">
            <a:avLst/>
          </a:prstGeom>
          <a:solidFill>
            <a:srgbClr val="F4F6F8"/>
          </a:solidFill>
          <a:ln w="9525">
            <a:solidFill>
              <a:srgbClr val="DCE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2040" y="1399032"/>
            <a:ext cx="3529583" cy="2093976"/>
          </a:xfrm>
          <a:prstGeom prst="rect">
            <a:avLst/>
          </a:prstGeom>
          <a:noFill/>
        </p:spPr>
        <p:txBody>
          <a:bodyPr wrap="square" anchor="t" lIns="36576" rIns="36576" tIns="18288" bIns="18288">
            <a:spAutoFit/>
          </a:bodyPr>
          <a:lstStyle/>
          <a:p>
            <a:r>
              <a:rPr sz="1150">
                <a:solidFill>
                  <a:srgbClr val="1B3A5C"/>
                </a:solidFill>
                <a:latin typeface="Consolas"/>
              </a:rPr>
              <a:t>final_v3_REAL/</a:t>
            </a:r>
          </a:p>
          <a:p>
            <a:r>
              <a:rPr sz="1150">
                <a:solidFill>
                  <a:srgbClr val="222222"/>
                </a:solidFill>
                <a:latin typeface="Consolas"/>
              </a:rPr>
              <a:t>  cloud_merged FINAL.las</a:t>
            </a:r>
          </a:p>
          <a:p>
            <a:r>
              <a:rPr sz="1150">
                <a:solidFill>
                  <a:srgbClr val="222222"/>
                </a:solidFill>
                <a:latin typeface="Consolas"/>
              </a:rPr>
              <a:t>  lidar_aug2_v3_REAL.laz</a:t>
            </a:r>
          </a:p>
          <a:p>
            <a:r>
              <a:rPr sz="1150">
                <a:solidFill>
                  <a:srgbClr val="222222"/>
                </a:solidFill>
                <a:latin typeface="Consolas"/>
              </a:rPr>
              <a:t>  lidar_aug2_v3_REAL (1).laz</a:t>
            </a:r>
          </a:p>
          <a:p>
            <a:r>
              <a:rPr sz="1150">
                <a:solidFill>
                  <a:srgbClr val="222222"/>
                </a:solidFill>
                <a:latin typeface="Consolas"/>
              </a:rPr>
              <a:t>  plot map FINAL.xlsx</a:t>
            </a:r>
          </a:p>
          <a:p>
            <a:r>
              <a:rPr sz="1150">
                <a:solidFill>
                  <a:srgbClr val="222222"/>
                </a:solidFill>
                <a:latin typeface="Consolas"/>
              </a:rPr>
              <a:t>  ~$plot map FINAL.xlsx</a:t>
            </a:r>
          </a:p>
          <a:p>
            <a:r>
              <a:rPr sz="1150">
                <a:solidFill>
                  <a:srgbClr val="222222"/>
                </a:solidFill>
                <a:latin typeface="Consolas"/>
              </a:rPr>
              <a:t>  Untitled.ipynb</a:t>
            </a:r>
          </a:p>
          <a:p>
            <a:r>
              <a:rPr sz="1150">
                <a:solidFill>
                  <a:srgbClr val="222222"/>
                </a:solidFill>
                <a:latin typeface="Consolas"/>
              </a:rPr>
              <a:t>  Untitled1.ipynb</a:t>
            </a:r>
          </a:p>
          <a:p>
            <a:r>
              <a:rPr sz="1150">
                <a:solidFill>
                  <a:srgbClr val="222222"/>
                </a:solidFill>
                <a:latin typeface="Consolas"/>
              </a:rPr>
              <a:t>  New folder/IMG_4521.HEIC</a:t>
            </a:r>
          </a:p>
        </p:txBody>
      </p:sp>
      <p:sp>
        <p:nvSpPr>
          <p:cNvPr id="9" name="Rectangle 8"/>
          <p:cNvSpPr/>
          <p:nvPr/>
        </p:nvSpPr>
        <p:spPr>
          <a:xfrm>
            <a:off x="630936" y="4069080"/>
            <a:ext cx="7882127" cy="530352"/>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 y="4069080"/>
            <a:ext cx="64008" cy="5303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5" y="4069080"/>
            <a:ext cx="7607807" cy="530352"/>
          </a:xfrm>
          <a:prstGeom prst="rect">
            <a:avLst/>
          </a:prstGeom>
          <a:noFill/>
        </p:spPr>
        <p:txBody>
          <a:bodyPr wrap="square" anchor="ctr" lIns="36576" rIns="36576" tIns="18288" bIns="18288">
            <a:spAutoFit/>
          </a:bodyPr>
          <a:lstStyle/>
          <a:p>
            <a:r>
              <a:rPr sz="1400" b="0">
                <a:solidFill>
                  <a:srgbClr val="222222"/>
                </a:solidFill>
                <a:latin typeface="Open Sans"/>
              </a:rPr>
              <a:t>The data still exists. It is just useless without the context that lived in one person's head.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0936" y="365760"/>
            <a:ext cx="7882127" cy="603504"/>
          </a:xfrm>
          <a:prstGeom prst="rect">
            <a:avLst/>
          </a:prstGeom>
          <a:noFill/>
        </p:spPr>
        <p:txBody>
          <a:bodyPr wrap="square" anchor="b" lIns="36576" rIns="36576" tIns="18288" bIns="18288">
            <a:spAutoFit/>
          </a:bodyPr>
          <a:lstStyle/>
          <a:p>
            <a:r>
              <a:rPr sz="2200" b="1">
                <a:solidFill>
                  <a:srgbClr val="C8102E"/>
                </a:solidFill>
                <a:latin typeface="Merriweather"/>
              </a:rPr>
              <a:t>Why now: our funders require it</a:t>
            </a:r>
          </a:p>
        </p:txBody>
      </p:sp>
      <p:cxnSp>
        <p:nvCxnSpPr>
          <p:cNvPr id="3" name="Connector 2"/>
          <p:cNvCxnSpPr/>
          <p:nvPr/>
        </p:nvCxnSpPr>
        <p:spPr>
          <a:xfrm>
            <a:off x="630936" y="1028700"/>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936" y="4846320"/>
            <a:ext cx="7882127" cy="228600"/>
          </a:xfrm>
          <a:prstGeom prst="rect">
            <a:avLst/>
          </a:prstGeom>
          <a:noFill/>
        </p:spPr>
        <p:txBody>
          <a:bodyPr wrap="square" anchor="t" lIns="36576" rIns="36576" tIns="18288" bIns="18288">
            <a:spAutoFit/>
          </a:bodyPr>
          <a:lstStyle/>
          <a:p>
            <a:r>
              <a:rPr sz="800" b="0">
                <a:solidFill>
                  <a:srgbClr val="8C97A6"/>
                </a:solidFill>
                <a:latin typeface="Open Sans"/>
              </a:rPr>
              <a:t>FAIR Data Curation  ·  ISU TrAC</a:t>
            </a:r>
          </a:p>
        </p:txBody>
      </p:sp>
      <p:sp>
        <p:nvSpPr>
          <p:cNvPr id="5" name="TextBox 4"/>
          <p:cNvSpPr txBox="1"/>
          <p:nvPr/>
        </p:nvSpPr>
        <p:spPr>
          <a:xfrm>
            <a:off x="7863840" y="4846320"/>
            <a:ext cx="649224" cy="228600"/>
          </a:xfrm>
          <a:prstGeom prst="rect">
            <a:avLst/>
          </a:prstGeom>
          <a:noFill/>
        </p:spPr>
        <p:txBody>
          <a:bodyPr wrap="square" anchor="t" lIns="36576" rIns="36576" tIns="18288" bIns="18288">
            <a:spAutoFit/>
          </a:bodyPr>
          <a:lstStyle/>
          <a:p>
            <a:pPr algn="r"/>
            <a:r>
              <a:rPr sz="800" b="0">
                <a:solidFill>
                  <a:srgbClr val="8C97A6"/>
                </a:solidFill>
                <a:latin typeface="Open Sans"/>
              </a:rPr>
              <a:t>3</a:t>
            </a:r>
          </a:p>
        </p:txBody>
      </p:sp>
      <p:pic>
        <p:nvPicPr>
          <p:cNvPr id="6" name="Picture 5" descr="excerpt_nelson.png"/>
          <p:cNvPicPr>
            <a:picLocks noChangeAspect="1"/>
          </p:cNvPicPr>
          <p:nvPr/>
        </p:nvPicPr>
        <p:blipFill>
          <a:blip r:embed="rId2"/>
          <a:stretch>
            <a:fillRect/>
          </a:stretch>
        </p:blipFill>
        <p:spPr>
          <a:xfrm>
            <a:off x="630936" y="1234440"/>
            <a:ext cx="5486400" cy="1929730"/>
          </a:xfrm>
          <a:prstGeom prst="rect">
            <a:avLst/>
          </a:prstGeom>
          <a:ln w="9525">
            <a:solidFill>
              <a:srgbClr val="C9CFD6"/>
            </a:solidFill>
          </a:ln>
        </p:spPr>
      </p:pic>
      <p:sp>
        <p:nvSpPr>
          <p:cNvPr id="7" name="Rectangle 6"/>
          <p:cNvSpPr/>
          <p:nvPr/>
        </p:nvSpPr>
        <p:spPr>
          <a:xfrm>
            <a:off x="6355080" y="1234440"/>
            <a:ext cx="2157984" cy="1929384"/>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4808" y="1307592"/>
            <a:ext cx="1938528" cy="1819655"/>
          </a:xfrm>
          <a:prstGeom prst="rect">
            <a:avLst/>
          </a:prstGeom>
          <a:noFill/>
        </p:spPr>
        <p:txBody>
          <a:bodyPr wrap="square" anchor="t" lIns="36576" rIns="36576" tIns="18288" bIns="18288">
            <a:spAutoFit/>
          </a:bodyPr>
          <a:lstStyle/>
          <a:p>
            <a:pPr>
              <a:spcAft>
                <a:spcPts val="300"/>
              </a:spcAft>
            </a:pPr>
            <a:r>
              <a:rPr sz="1250" b="1">
                <a:solidFill>
                  <a:srgbClr val="C8102E"/>
                </a:solidFill>
                <a:latin typeface="Open Sans"/>
              </a:rPr>
              <a:t>€10.2 billion / year</a:t>
            </a:r>
          </a:p>
          <a:p>
            <a:r>
              <a:rPr sz="1100" b="0">
                <a:solidFill>
                  <a:srgbClr val="6E6259"/>
                </a:solidFill>
                <a:latin typeface="Open Sans"/>
              </a:rPr>
              <a:t>Minimum yearly cost of non-FAIR research data to the EU economy (European Commission / PwC, 2018).</a:t>
            </a:r>
          </a:p>
        </p:txBody>
      </p:sp>
      <p:sp>
        <p:nvSpPr>
          <p:cNvPr id="9" name="Rectangle 8"/>
          <p:cNvSpPr/>
          <p:nvPr/>
        </p:nvSpPr>
        <p:spPr>
          <a:xfrm>
            <a:off x="630936" y="3337560"/>
            <a:ext cx="1828800" cy="1261872"/>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 y="3410712"/>
            <a:ext cx="1609344" cy="1152143"/>
          </a:xfrm>
          <a:prstGeom prst="rect">
            <a:avLst/>
          </a:prstGeom>
          <a:noFill/>
        </p:spPr>
        <p:txBody>
          <a:bodyPr wrap="square" anchor="t" lIns="36576" rIns="36576" tIns="18288" bIns="18288">
            <a:spAutoFit/>
          </a:bodyPr>
          <a:lstStyle/>
          <a:p>
            <a:pPr>
              <a:spcAft>
                <a:spcPts val="300"/>
              </a:spcAft>
            </a:pPr>
            <a:r>
              <a:rPr sz="1200" b="1">
                <a:solidFill>
                  <a:srgbClr val="1B3A5C"/>
                </a:solidFill>
                <a:latin typeface="Open Sans"/>
              </a:rPr>
              <a:t>Aug 2022</a:t>
            </a:r>
          </a:p>
          <a:p>
            <a:r>
              <a:rPr sz="1050" b="0">
                <a:solidFill>
                  <a:srgbClr val="6E6259"/>
                </a:solidFill>
                <a:latin typeface="Open Sans"/>
              </a:rPr>
              <a:t>OSTP "Nelson memo": papers </a:t>
            </a:r>
            <a:r>
              <a:rPr sz="1050" b="1">
                <a:solidFill>
                  <a:srgbClr val="222222"/>
                </a:solidFill>
                <a:latin typeface="Open Sans"/>
              </a:rPr>
              <a:t>and supporting data</a:t>
            </a:r>
            <a:r>
              <a:rPr sz="1050" b="0">
                <a:solidFill>
                  <a:srgbClr val="6E6259"/>
                </a:solidFill>
                <a:latin typeface="Open Sans"/>
              </a:rPr>
              <a:t>, no embargo</a:t>
            </a:r>
          </a:p>
        </p:txBody>
      </p:sp>
      <p:sp>
        <p:nvSpPr>
          <p:cNvPr id="11" name="Rectangle 10"/>
          <p:cNvSpPr/>
          <p:nvPr/>
        </p:nvSpPr>
        <p:spPr>
          <a:xfrm>
            <a:off x="2649016" y="3337560"/>
            <a:ext cx="1828800" cy="1261872"/>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58744" y="3410712"/>
            <a:ext cx="1609344" cy="1152143"/>
          </a:xfrm>
          <a:prstGeom prst="rect">
            <a:avLst/>
          </a:prstGeom>
          <a:noFill/>
        </p:spPr>
        <p:txBody>
          <a:bodyPr wrap="square" anchor="t" lIns="36576" rIns="36576" tIns="18288" bIns="18288">
            <a:spAutoFit/>
          </a:bodyPr>
          <a:lstStyle/>
          <a:p>
            <a:pPr>
              <a:spcAft>
                <a:spcPts val="300"/>
              </a:spcAft>
            </a:pPr>
            <a:r>
              <a:rPr sz="1200" b="1">
                <a:solidFill>
                  <a:srgbClr val="1B3A5C"/>
                </a:solidFill>
                <a:latin typeface="Open Sans"/>
              </a:rPr>
              <a:t>Dec 2024</a:t>
            </a:r>
          </a:p>
          <a:p>
            <a:r>
              <a:rPr sz="1050" b="0">
                <a:solidFill>
                  <a:srgbClr val="6E6259"/>
                </a:solidFill>
                <a:latin typeface="Open Sans"/>
              </a:rPr>
              <a:t>Agencies publish new public-access policies</a:t>
            </a:r>
          </a:p>
        </p:txBody>
      </p:sp>
      <p:sp>
        <p:nvSpPr>
          <p:cNvPr id="13" name="Rectangle 12"/>
          <p:cNvSpPr/>
          <p:nvPr/>
        </p:nvSpPr>
        <p:spPr>
          <a:xfrm>
            <a:off x="4666183" y="3337560"/>
            <a:ext cx="1828800" cy="1261872"/>
          </a:xfrm>
          <a:prstGeom prst="rect">
            <a:avLst/>
          </a:prstGeom>
          <a:solidFill>
            <a:srgbClr val="D4E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5911" y="3410712"/>
            <a:ext cx="1609344" cy="1152143"/>
          </a:xfrm>
          <a:prstGeom prst="rect">
            <a:avLst/>
          </a:prstGeom>
          <a:noFill/>
        </p:spPr>
        <p:txBody>
          <a:bodyPr wrap="square" anchor="t" lIns="36576" rIns="36576" tIns="18288" bIns="18288">
            <a:spAutoFit/>
          </a:bodyPr>
          <a:lstStyle/>
          <a:p>
            <a:pPr>
              <a:spcAft>
                <a:spcPts val="300"/>
              </a:spcAft>
            </a:pPr>
            <a:r>
              <a:rPr sz="1200" b="1">
                <a:solidFill>
                  <a:srgbClr val="1B3A5C"/>
                </a:solidFill>
                <a:latin typeface="Open Sans"/>
              </a:rPr>
              <a:t>Dec 2025</a:t>
            </a:r>
          </a:p>
          <a:p>
            <a:r>
              <a:rPr sz="1050" b="0">
                <a:solidFill>
                  <a:srgbClr val="6E6259"/>
                </a:solidFill>
                <a:latin typeface="Open Sans"/>
              </a:rPr>
              <a:t>Deadline for the new policies to take effect (USDA, NSF, NIH…)</a:t>
            </a:r>
          </a:p>
        </p:txBody>
      </p:sp>
      <p:sp>
        <p:nvSpPr>
          <p:cNvPr id="15" name="Rectangle 14"/>
          <p:cNvSpPr/>
          <p:nvPr/>
        </p:nvSpPr>
        <p:spPr>
          <a:xfrm>
            <a:off x="6684264" y="3337560"/>
            <a:ext cx="1828800" cy="12618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93992" y="3410712"/>
            <a:ext cx="1609344" cy="1152143"/>
          </a:xfrm>
          <a:prstGeom prst="rect">
            <a:avLst/>
          </a:prstGeom>
          <a:noFill/>
        </p:spPr>
        <p:txBody>
          <a:bodyPr wrap="square" anchor="t" lIns="36576" rIns="36576" tIns="18288" bIns="18288">
            <a:spAutoFit/>
          </a:bodyPr>
          <a:lstStyle/>
          <a:p>
            <a:pPr>
              <a:spcAft>
                <a:spcPts val="300"/>
              </a:spcAft>
            </a:pPr>
            <a:r>
              <a:rPr sz="1200" b="1">
                <a:solidFill>
                  <a:srgbClr val="1B3A5C"/>
                </a:solidFill>
                <a:latin typeface="Open Sans"/>
              </a:rPr>
              <a:t>2026</a:t>
            </a:r>
          </a:p>
          <a:p>
            <a:r>
              <a:rPr sz="1050" b="0">
                <a:solidFill>
                  <a:srgbClr val="6E6259"/>
                </a:solidFill>
                <a:latin typeface="Open Sans"/>
              </a:rPr>
              <a:t>NeurIPS dataset track requires Croissant + Responsible-AI metadata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0936" y="365760"/>
            <a:ext cx="7882127" cy="603504"/>
          </a:xfrm>
          <a:prstGeom prst="rect">
            <a:avLst/>
          </a:prstGeom>
          <a:noFill/>
        </p:spPr>
        <p:txBody>
          <a:bodyPr wrap="square" anchor="b" lIns="36576" rIns="36576" tIns="18288" bIns="18288">
            <a:spAutoFit/>
          </a:bodyPr>
          <a:lstStyle/>
          <a:p>
            <a:r>
              <a:rPr sz="2200" b="1">
                <a:solidFill>
                  <a:srgbClr val="C8102E"/>
                </a:solidFill>
                <a:latin typeface="Merriweather"/>
              </a:rPr>
              <a:t>FAIR is a library catalog for data</a:t>
            </a:r>
          </a:p>
        </p:txBody>
      </p:sp>
      <p:cxnSp>
        <p:nvCxnSpPr>
          <p:cNvPr id="3" name="Connector 2"/>
          <p:cNvCxnSpPr/>
          <p:nvPr/>
        </p:nvCxnSpPr>
        <p:spPr>
          <a:xfrm>
            <a:off x="630936" y="1028700"/>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936" y="4846320"/>
            <a:ext cx="7882127" cy="228600"/>
          </a:xfrm>
          <a:prstGeom prst="rect">
            <a:avLst/>
          </a:prstGeom>
          <a:noFill/>
        </p:spPr>
        <p:txBody>
          <a:bodyPr wrap="square" anchor="t" lIns="36576" rIns="36576" tIns="18288" bIns="18288">
            <a:spAutoFit/>
          </a:bodyPr>
          <a:lstStyle/>
          <a:p>
            <a:r>
              <a:rPr sz="800" b="0">
                <a:solidFill>
                  <a:srgbClr val="8C97A6"/>
                </a:solidFill>
                <a:latin typeface="Open Sans"/>
              </a:rPr>
              <a:t>FAIR Data Curation  ·  ISU TrAC</a:t>
            </a:r>
          </a:p>
        </p:txBody>
      </p:sp>
      <p:sp>
        <p:nvSpPr>
          <p:cNvPr id="5" name="TextBox 4"/>
          <p:cNvSpPr txBox="1"/>
          <p:nvPr/>
        </p:nvSpPr>
        <p:spPr>
          <a:xfrm>
            <a:off x="7863840" y="4846320"/>
            <a:ext cx="649224" cy="228600"/>
          </a:xfrm>
          <a:prstGeom prst="rect">
            <a:avLst/>
          </a:prstGeom>
          <a:noFill/>
        </p:spPr>
        <p:txBody>
          <a:bodyPr wrap="square" anchor="t" lIns="36576" rIns="36576" tIns="18288" bIns="18288">
            <a:spAutoFit/>
          </a:bodyPr>
          <a:lstStyle/>
          <a:p>
            <a:pPr algn="r"/>
            <a:r>
              <a:rPr sz="800" b="0">
                <a:solidFill>
                  <a:srgbClr val="8C97A6"/>
                </a:solidFill>
                <a:latin typeface="Open Sans"/>
              </a:rPr>
              <a:t>4</a:t>
            </a:r>
          </a:p>
        </p:txBody>
      </p:sp>
      <p:graphicFrame>
        <p:nvGraphicFramePr>
          <p:cNvPr id="6" name="Table 5"/>
          <p:cNvGraphicFramePr>
            <a:graphicFrameLocks noGrp="1"/>
          </p:cNvGraphicFramePr>
          <p:nvPr/>
        </p:nvGraphicFramePr>
        <p:xfrm>
          <a:off x="630936" y="1280160"/>
          <a:ext cx="7882128" cy="2286000"/>
        </p:xfrm>
        <a:graphic>
          <a:graphicData uri="http://schemas.openxmlformats.org/drawingml/2006/table">
            <a:tbl>
              <a:tblPr firstRow="0" bandRow="0">
                <a:tableStyleId>{5940675A-B579-460E-94D1-54222C63F5DA}</a:tableStyleId>
              </a:tblPr>
              <a:tblGrid>
                <a:gridCol w="1417320"/>
                <a:gridCol w="2743200"/>
                <a:gridCol w="3721608"/>
              </a:tblGrid>
              <a:tr h="457200">
                <a:tc>
                  <a:txBody>
                    <a:bodyPr wrap="square"/>
                    <a:lstStyle/>
                    <a:p>
                      <a:r>
                        <a:rPr sz="1150" b="1">
                          <a:solidFill>
                            <a:srgbClr val="FFFFFF"/>
                          </a:solidFill>
                          <a:latin typeface="Open Sans"/>
                        </a:rPr>
                        <a:t>Letter</a:t>
                      </a:r>
                    </a:p>
                  </a:txBody>
                  <a:tcPr marL="54864" marR="54864" marT="27432" marB="27432" anchor="ctr">
                    <a:solidFill>
                      <a:srgbClr val="1B3A5C"/>
                    </a:solidFill>
                  </a:tcPr>
                </a:tc>
                <a:tc>
                  <a:txBody>
                    <a:bodyPr wrap="square"/>
                    <a:lstStyle/>
                    <a:p>
                      <a:r>
                        <a:rPr sz="1150" b="1">
                          <a:solidFill>
                            <a:srgbClr val="FFFFFF"/>
                          </a:solidFill>
                          <a:latin typeface="Open Sans"/>
                        </a:rPr>
                        <a:t>In a library</a:t>
                      </a:r>
                    </a:p>
                  </a:txBody>
                  <a:tcPr marL="54864" marR="54864" marT="27432" marB="27432" anchor="ctr">
                    <a:solidFill>
                      <a:srgbClr val="1B3A5C"/>
                    </a:solidFill>
                  </a:tcPr>
                </a:tc>
                <a:tc>
                  <a:txBody>
                    <a:bodyPr wrap="square"/>
                    <a:lstStyle/>
                    <a:p>
                      <a:r>
                        <a:rPr sz="1150" b="1">
                          <a:solidFill>
                            <a:srgbClr val="FFFFFF"/>
                          </a:solidFill>
                          <a:latin typeface="Open Sans"/>
                        </a:rPr>
                        <a:t>In our lab</a:t>
                      </a:r>
                    </a:p>
                  </a:txBody>
                  <a:tcPr marL="54864" marR="54864" marT="27432" marB="27432" anchor="ctr">
                    <a:solidFill>
                      <a:srgbClr val="1B3A5C"/>
                    </a:solidFill>
                  </a:tcPr>
                </a:tc>
              </a:tr>
              <a:tr h="457200">
                <a:tc>
                  <a:txBody>
                    <a:bodyPr wrap="square"/>
                    <a:lstStyle/>
                    <a:p>
                      <a:r>
                        <a:rPr sz="1150" b="1">
                          <a:solidFill>
                            <a:srgbClr val="1B3A5C"/>
                          </a:solidFill>
                          <a:latin typeface="Open Sans"/>
                        </a:rPr>
                        <a:t>F</a:t>
                      </a:r>
                      <a:r>
                        <a:rPr sz="1150" b="0">
                          <a:solidFill>
                            <a:srgbClr val="1B3A5C"/>
                          </a:solidFill>
                          <a:latin typeface="Open Sans"/>
                        </a:rPr>
                        <a:t> Findable</a:t>
                      </a:r>
                    </a:p>
                  </a:txBody>
                  <a:tcPr marL="54864" marR="54864" marT="27432" marB="27432" anchor="ctr">
                    <a:solidFill>
                      <a:srgbClr val="FFFFFF"/>
                    </a:solidFill>
                  </a:tcPr>
                </a:tc>
                <a:tc>
                  <a:txBody>
                    <a:bodyPr wrap="square"/>
                    <a:lstStyle/>
                    <a:p>
                      <a:r>
                        <a:rPr sz="1150" b="0">
                          <a:solidFill>
                            <a:srgbClr val="6E6259"/>
                          </a:solidFill>
                          <a:latin typeface="Open Sans"/>
                        </a:rPr>
                        <a:t>Call number + catalog card</a:t>
                      </a:r>
                    </a:p>
                  </a:txBody>
                  <a:tcPr marL="54864" marR="54864" marT="27432" marB="27432" anchor="ctr">
                    <a:solidFill>
                      <a:srgbClr val="FFFFFF"/>
                    </a:solidFill>
                  </a:tcPr>
                </a:tc>
                <a:tc>
                  <a:txBody>
                    <a:bodyPr wrap="square"/>
                    <a:lstStyle/>
                    <a:p>
                      <a:r>
                        <a:rPr sz="1150" b="0">
                          <a:solidFill>
                            <a:srgbClr val="6E6259"/>
                          </a:solidFill>
                          <a:latin typeface="Open Sans"/>
                        </a:rPr>
                        <a:t>A </a:t>
                      </a:r>
                      <a:r>
                        <a:rPr sz="1150" b="1">
                          <a:solidFill>
                            <a:srgbClr val="222222"/>
                          </a:solidFill>
                          <a:latin typeface="Open Sans"/>
                        </a:rPr>
                        <a:t>DOI</a:t>
                      </a:r>
                      <a:r>
                        <a:rPr sz="1150" b="0">
                          <a:solidFill>
                            <a:srgbClr val="6E6259"/>
                          </a:solidFill>
                          <a:latin typeface="Open Sans"/>
                        </a:rPr>
                        <a:t> (permanent ID) + rich metadata in a searchable repository</a:t>
                      </a:r>
                    </a:p>
                  </a:txBody>
                  <a:tcPr marL="54864" marR="54864" marT="27432" marB="27432" anchor="ctr">
                    <a:solidFill>
                      <a:srgbClr val="FFFFFF"/>
                    </a:solidFill>
                  </a:tcPr>
                </a:tc>
              </a:tr>
              <a:tr h="457200">
                <a:tc>
                  <a:txBody>
                    <a:bodyPr wrap="square"/>
                    <a:lstStyle/>
                    <a:p>
                      <a:r>
                        <a:rPr sz="1150" b="1">
                          <a:solidFill>
                            <a:srgbClr val="1B3A5C"/>
                          </a:solidFill>
                          <a:latin typeface="Open Sans"/>
                        </a:rPr>
                        <a:t>A</a:t>
                      </a:r>
                      <a:r>
                        <a:rPr sz="1150" b="0">
                          <a:solidFill>
                            <a:srgbClr val="1B3A5C"/>
                          </a:solidFill>
                          <a:latin typeface="Open Sans"/>
                        </a:rPr>
                        <a:t> Accessible</a:t>
                      </a:r>
                    </a:p>
                  </a:txBody>
                  <a:tcPr marL="54864" marR="54864" marT="27432" marB="27432" anchor="ctr">
                    <a:solidFill>
                      <a:srgbClr val="F4F6F8"/>
                    </a:solidFill>
                  </a:tcPr>
                </a:tc>
                <a:tc>
                  <a:txBody>
                    <a:bodyPr wrap="square"/>
                    <a:lstStyle/>
                    <a:p>
                      <a:r>
                        <a:rPr sz="1150" b="0">
                          <a:solidFill>
                            <a:srgbClr val="6E6259"/>
                          </a:solidFill>
                          <a:latin typeface="Open Sans"/>
                        </a:rPr>
                        <a:t>Clear borrowing rules; the card stays even if the book is lost</a:t>
                      </a:r>
                    </a:p>
                  </a:txBody>
                  <a:tcPr marL="54864" marR="54864" marT="27432" marB="27432" anchor="ctr">
                    <a:solidFill>
                      <a:srgbClr val="F4F6F8"/>
                    </a:solidFill>
                  </a:tcPr>
                </a:tc>
                <a:tc>
                  <a:txBody>
                    <a:bodyPr wrap="square"/>
                    <a:lstStyle/>
                    <a:p>
                      <a:r>
                        <a:rPr sz="1150" b="0">
                          <a:solidFill>
                            <a:srgbClr val="6E6259"/>
                          </a:solidFill>
                          <a:latin typeface="Open Sans"/>
                        </a:rPr>
                        <a:t>Download over HTTPS; login allowed; metadata stays online</a:t>
                      </a:r>
                    </a:p>
                  </a:txBody>
                  <a:tcPr marL="54864" marR="54864" marT="27432" marB="27432" anchor="ctr">
                    <a:solidFill>
                      <a:srgbClr val="F4F6F8"/>
                    </a:solidFill>
                  </a:tcPr>
                </a:tc>
              </a:tr>
              <a:tr h="457200">
                <a:tc>
                  <a:txBody>
                    <a:bodyPr wrap="square"/>
                    <a:lstStyle/>
                    <a:p>
                      <a:r>
                        <a:rPr sz="1150" b="1">
                          <a:solidFill>
                            <a:srgbClr val="1B3A5C"/>
                          </a:solidFill>
                          <a:latin typeface="Open Sans"/>
                        </a:rPr>
                        <a:t>I</a:t>
                      </a:r>
                      <a:r>
                        <a:rPr sz="1150" b="0">
                          <a:solidFill>
                            <a:srgbClr val="1B3A5C"/>
                          </a:solidFill>
                          <a:latin typeface="Open Sans"/>
                        </a:rPr>
                        <a:t> Interoperable</a:t>
                      </a:r>
                    </a:p>
                  </a:txBody>
                  <a:tcPr marL="54864" marR="54864" marT="27432" marB="27432" anchor="ctr">
                    <a:solidFill>
                      <a:srgbClr val="FFFFFF"/>
                    </a:solidFill>
                  </a:tcPr>
                </a:tc>
                <a:tc>
                  <a:txBody>
                    <a:bodyPr wrap="square"/>
                    <a:lstStyle/>
                    <a:p>
                      <a:r>
                        <a:rPr sz="1150" b="0">
                          <a:solidFill>
                            <a:srgbClr val="6E6259"/>
                          </a:solidFill>
                          <a:latin typeface="Open Sans"/>
                        </a:rPr>
                        <a:t>Written in a language readers know</a:t>
                      </a:r>
                    </a:p>
                  </a:txBody>
                  <a:tcPr marL="54864" marR="54864" marT="27432" marB="27432" anchor="ctr">
                    <a:solidFill>
                      <a:srgbClr val="FFFFFF"/>
                    </a:solidFill>
                  </a:tcPr>
                </a:tc>
                <a:tc>
                  <a:txBody>
                    <a:bodyPr wrap="square"/>
                    <a:lstStyle/>
                    <a:p>
                      <a:r>
                        <a:rPr sz="1150" b="0">
                          <a:solidFill>
                            <a:srgbClr val="6E6259"/>
                          </a:solidFill>
                          <a:latin typeface="Open Sans"/>
                        </a:rPr>
                        <a:t>Open formats (LAS, ENVI, PLY, VCF, CSV) + shared trait terms</a:t>
                      </a:r>
                    </a:p>
                  </a:txBody>
                  <a:tcPr marL="54864" marR="54864" marT="27432" marB="27432" anchor="ctr">
                    <a:solidFill>
                      <a:srgbClr val="FFFFFF"/>
                    </a:solidFill>
                  </a:tcPr>
                </a:tc>
              </a:tr>
              <a:tr h="457200">
                <a:tc>
                  <a:txBody>
                    <a:bodyPr wrap="square"/>
                    <a:lstStyle/>
                    <a:p>
                      <a:r>
                        <a:rPr sz="1150" b="1">
                          <a:solidFill>
                            <a:srgbClr val="1B3A5C"/>
                          </a:solidFill>
                          <a:latin typeface="Open Sans"/>
                        </a:rPr>
                        <a:t>R</a:t>
                      </a:r>
                      <a:r>
                        <a:rPr sz="1150" b="0">
                          <a:solidFill>
                            <a:srgbClr val="1B3A5C"/>
                          </a:solidFill>
                          <a:latin typeface="Open Sans"/>
                        </a:rPr>
                        <a:t> Reusable</a:t>
                      </a:r>
                    </a:p>
                  </a:txBody>
                  <a:tcPr marL="54864" marR="54864" marT="27432" marB="27432" anchor="ctr">
                    <a:solidFill>
                      <a:srgbClr val="F4F6F8"/>
                    </a:solidFill>
                  </a:tcPr>
                </a:tc>
                <a:tc>
                  <a:txBody>
                    <a:bodyPr wrap="square"/>
                    <a:lstStyle/>
                    <a:p>
                      <a:r>
                        <a:rPr sz="1150" b="0">
                          <a:solidFill>
                            <a:srgbClr val="6E6259"/>
                          </a:solidFill>
                          <a:latin typeface="Open Sans"/>
                        </a:rPr>
                        <a:t>Edition, author, copyright page</a:t>
                      </a:r>
                    </a:p>
                  </a:txBody>
                  <a:tcPr marL="54864" marR="54864" marT="27432" marB="27432" anchor="ctr">
                    <a:solidFill>
                      <a:srgbClr val="F4F6F8"/>
                    </a:solidFill>
                  </a:tcPr>
                </a:tc>
                <a:tc>
                  <a:txBody>
                    <a:bodyPr wrap="square"/>
                    <a:lstStyle/>
                    <a:p>
                      <a:r>
                        <a:rPr sz="1150" b="0">
                          <a:solidFill>
                            <a:srgbClr val="6E6259"/>
                          </a:solidFill>
                          <a:latin typeface="Open Sans"/>
                        </a:rPr>
                        <a:t>License, provenance (how it was made), community standard (MIAPPE)</a:t>
                      </a:r>
                    </a:p>
                  </a:txBody>
                  <a:tcPr marL="54864" marR="54864" marT="27432" marB="27432" anchor="ctr">
                    <a:solidFill>
                      <a:srgbClr val="F4F6F8"/>
                    </a:solidFill>
                  </a:tcPr>
                </a:tc>
              </a:tr>
            </a:tbl>
          </a:graphicData>
        </a:graphic>
      </p:graphicFrame>
      <p:sp>
        <p:nvSpPr>
          <p:cNvPr id="7" name="Rectangle 6"/>
          <p:cNvSpPr/>
          <p:nvPr/>
        </p:nvSpPr>
        <p:spPr>
          <a:xfrm>
            <a:off x="630936" y="3794760"/>
            <a:ext cx="7882127" cy="777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0936" y="3794760"/>
            <a:ext cx="64008" cy="7772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5" y="3794760"/>
            <a:ext cx="7607807" cy="777240"/>
          </a:xfrm>
          <a:prstGeom prst="rect">
            <a:avLst/>
          </a:prstGeom>
          <a:noFill/>
        </p:spPr>
        <p:txBody>
          <a:bodyPr wrap="square" anchor="ctr" lIns="36576" rIns="36576" tIns="18288" bIns="18288">
            <a:spAutoFit/>
          </a:bodyPr>
          <a:lstStyle/>
          <a:p>
            <a:r>
              <a:rPr sz="1300" b="1">
                <a:solidFill>
                  <a:srgbClr val="222222"/>
                </a:solidFill>
                <a:latin typeface="Open Sans"/>
              </a:rPr>
              <a:t>FAIR is not the same as open.</a:t>
            </a:r>
            <a:r>
              <a:rPr sz="1300" b="0">
                <a:solidFill>
                  <a:srgbClr val="222222"/>
                </a:solidFill>
                <a:latin typeface="Open Sans"/>
              </a:rPr>
              <a:t> Private industry genotypes can still be FAIR: the metadata is public, the DOI works, and the access rule is written down ("request through a data-use agreement").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0936" y="365760"/>
            <a:ext cx="7882127" cy="603504"/>
          </a:xfrm>
          <a:prstGeom prst="rect">
            <a:avLst/>
          </a:prstGeom>
          <a:noFill/>
        </p:spPr>
        <p:txBody>
          <a:bodyPr wrap="square" anchor="b" lIns="36576" rIns="36576" tIns="18288" bIns="18288">
            <a:spAutoFit/>
          </a:bodyPr>
          <a:lstStyle/>
          <a:p>
            <a:r>
              <a:rPr sz="2200" b="1">
                <a:solidFill>
                  <a:srgbClr val="C8102E"/>
                </a:solidFill>
                <a:latin typeface="Merriweather"/>
              </a:rPr>
              <a:t>The 15 principles: the yellow ones are our job</a:t>
            </a:r>
          </a:p>
        </p:txBody>
      </p:sp>
      <p:cxnSp>
        <p:nvCxnSpPr>
          <p:cNvPr id="3" name="Connector 2"/>
          <p:cNvCxnSpPr/>
          <p:nvPr/>
        </p:nvCxnSpPr>
        <p:spPr>
          <a:xfrm>
            <a:off x="630936" y="1028700"/>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936" y="4846320"/>
            <a:ext cx="7882127" cy="228600"/>
          </a:xfrm>
          <a:prstGeom prst="rect">
            <a:avLst/>
          </a:prstGeom>
          <a:noFill/>
        </p:spPr>
        <p:txBody>
          <a:bodyPr wrap="square" anchor="t" lIns="36576" rIns="36576" tIns="18288" bIns="18288">
            <a:spAutoFit/>
          </a:bodyPr>
          <a:lstStyle/>
          <a:p>
            <a:r>
              <a:rPr sz="800" b="0">
                <a:solidFill>
                  <a:srgbClr val="8C97A6"/>
                </a:solidFill>
                <a:latin typeface="Open Sans"/>
              </a:rPr>
              <a:t>FAIR Data Curation  ·  ISU TrAC</a:t>
            </a:r>
          </a:p>
        </p:txBody>
      </p:sp>
      <p:sp>
        <p:nvSpPr>
          <p:cNvPr id="5" name="TextBox 4"/>
          <p:cNvSpPr txBox="1"/>
          <p:nvPr/>
        </p:nvSpPr>
        <p:spPr>
          <a:xfrm>
            <a:off x="7863840" y="4846320"/>
            <a:ext cx="649224" cy="228600"/>
          </a:xfrm>
          <a:prstGeom prst="rect">
            <a:avLst/>
          </a:prstGeom>
          <a:noFill/>
        </p:spPr>
        <p:txBody>
          <a:bodyPr wrap="square" anchor="t" lIns="36576" rIns="36576" tIns="18288" bIns="18288">
            <a:spAutoFit/>
          </a:bodyPr>
          <a:lstStyle/>
          <a:p>
            <a:pPr algn="r"/>
            <a:r>
              <a:rPr sz="800" b="0">
                <a:solidFill>
                  <a:srgbClr val="8C97A6"/>
                </a:solidFill>
                <a:latin typeface="Open Sans"/>
              </a:rPr>
              <a:t>5</a:t>
            </a:r>
          </a:p>
        </p:txBody>
      </p:sp>
      <p:pic>
        <p:nvPicPr>
          <p:cNvPr id="6" name="Picture 5" descr="excerpt_fair15.png"/>
          <p:cNvPicPr>
            <a:picLocks noChangeAspect="1"/>
          </p:cNvPicPr>
          <p:nvPr/>
        </p:nvPicPr>
        <p:blipFill>
          <a:blip r:embed="rId2"/>
          <a:stretch>
            <a:fillRect/>
          </a:stretch>
        </p:blipFill>
        <p:spPr>
          <a:xfrm>
            <a:off x="630936" y="1216152"/>
            <a:ext cx="5892221" cy="3310128"/>
          </a:xfrm>
          <a:prstGeom prst="rect">
            <a:avLst/>
          </a:prstGeom>
          <a:ln w="9525">
            <a:solidFill>
              <a:srgbClr val="C9CFD6"/>
            </a:solidFill>
          </a:ln>
        </p:spPr>
      </p:pic>
      <p:sp>
        <p:nvSpPr>
          <p:cNvPr id="7" name="TextBox 6"/>
          <p:cNvSpPr txBox="1"/>
          <p:nvPr/>
        </p:nvSpPr>
        <p:spPr>
          <a:xfrm>
            <a:off x="6751757" y="1234440"/>
            <a:ext cx="1761306" cy="3383280"/>
          </a:xfrm>
          <a:prstGeom prst="rect">
            <a:avLst/>
          </a:prstGeom>
          <a:noFill/>
        </p:spPr>
        <p:txBody>
          <a:bodyPr wrap="square" anchor="t" lIns="36576" rIns="36576" tIns="18288" bIns="18288">
            <a:spAutoFit/>
          </a:bodyPr>
          <a:lstStyle/>
          <a:p>
            <a:pPr algn="l">
              <a:spcBef>
                <a:spcPts val="605"/>
              </a:spcBef>
              <a:spcAft>
                <a:spcPts val="100"/>
              </a:spcAft>
            </a:pPr>
            <a:r>
              <a:rPr sz="1150" b="1">
                <a:solidFill>
                  <a:srgbClr val="1B3A5C"/>
                </a:solidFill>
                <a:latin typeface="Open Sans"/>
              </a:rPr>
              <a:t>Repository gives us</a:t>
            </a:r>
          </a:p>
          <a:p>
            <a:pPr algn="l">
              <a:spcAft>
                <a:spcPts val="384"/>
              </a:spcAft>
            </a:pPr>
            <a:r>
              <a:rPr sz="1100" b="0">
                <a:solidFill>
                  <a:srgbClr val="6E6259"/>
                </a:solidFill>
                <a:latin typeface="Open Sans"/>
              </a:rPr>
              <a:t>F1 DOI, F4 indexing, A1–A2 access and long-lived metadata</a:t>
            </a:r>
          </a:p>
          <a:p>
            <a:pPr algn="l">
              <a:spcBef>
                <a:spcPts val="605"/>
              </a:spcBef>
              <a:spcAft>
                <a:spcPts val="100"/>
              </a:spcAft>
            </a:pPr>
            <a:r>
              <a:rPr sz="1150" b="1">
                <a:solidFill>
                  <a:srgbClr val="1B3A5C"/>
                </a:solidFill>
                <a:latin typeface="Open Sans"/>
              </a:rPr>
              <a:t>We must supply</a:t>
            </a:r>
          </a:p>
          <a:p>
            <a:pPr algn="l">
              <a:spcAft>
                <a:spcPts val="384"/>
              </a:spcAft>
            </a:pPr>
            <a:r>
              <a:rPr sz="1100" b="0">
                <a:solidFill>
                  <a:srgbClr val="6E6259"/>
                </a:solidFill>
                <a:latin typeface="Open Sans"/>
              </a:rPr>
              <a:t>F2/R1 rich metadata</a:t>
            </a:r>
          </a:p>
          <a:p>
            <a:pPr algn="l">
              <a:spcAft>
                <a:spcPts val="384"/>
              </a:spcAft>
            </a:pPr>
            <a:r>
              <a:rPr sz="1100" b="0">
                <a:solidFill>
                  <a:srgbClr val="6E6259"/>
                </a:solidFill>
                <a:latin typeface="Open Sans"/>
              </a:rPr>
              <a:t>I2 shared trait terms</a:t>
            </a:r>
          </a:p>
          <a:p>
            <a:pPr algn="l">
              <a:spcAft>
                <a:spcPts val="384"/>
              </a:spcAft>
            </a:pPr>
            <a:r>
              <a:rPr sz="1100" b="0">
                <a:solidFill>
                  <a:srgbClr val="6E6259"/>
                </a:solidFill>
                <a:latin typeface="Open Sans"/>
              </a:rPr>
              <a:t>R1.1 a license</a:t>
            </a:r>
          </a:p>
          <a:p>
            <a:pPr algn="l">
              <a:spcAft>
                <a:spcPts val="384"/>
              </a:spcAft>
            </a:pPr>
            <a:r>
              <a:rPr sz="1100" b="0">
                <a:solidFill>
                  <a:srgbClr val="6E6259"/>
                </a:solidFill>
                <a:latin typeface="Open Sans"/>
              </a:rPr>
              <a:t>R1.2 provenance</a:t>
            </a:r>
          </a:p>
          <a:p>
            <a:pPr algn="l">
              <a:spcAft>
                <a:spcPts val="384"/>
              </a:spcAft>
            </a:pPr>
            <a:r>
              <a:rPr sz="1100" b="0">
                <a:solidFill>
                  <a:srgbClr val="6E6259"/>
                </a:solidFill>
                <a:latin typeface="Open Sans"/>
              </a:rPr>
              <a:t>R1.3 MIAPPE / Croissant</a:t>
            </a:r>
          </a:p>
          <a:p>
            <a:pPr algn="l">
              <a:spcBef>
                <a:spcPts val="605"/>
              </a:spcBef>
              <a:spcAft>
                <a:spcPts val="100"/>
              </a:spcAft>
            </a:pPr>
            <a:r>
              <a:rPr sz="1150" b="1">
                <a:solidFill>
                  <a:srgbClr val="1B3A5C"/>
                </a:solidFill>
                <a:latin typeface="Open Sans"/>
              </a:rPr>
              <a:t>Blue = private is OK</a:t>
            </a:r>
          </a:p>
          <a:p>
            <a:pPr algn="l">
              <a:spcAft>
                <a:spcPts val="384"/>
              </a:spcAft>
            </a:pPr>
            <a:r>
              <a:rPr sz="1100" b="0">
                <a:solidFill>
                  <a:srgbClr val="6E6259"/>
                </a:solidFill>
                <a:latin typeface="Open Sans"/>
              </a:rPr>
              <a:t>A1.2 login and approval are allowed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0936" y="365760"/>
            <a:ext cx="7882127" cy="603504"/>
          </a:xfrm>
          <a:prstGeom prst="rect">
            <a:avLst/>
          </a:prstGeom>
          <a:noFill/>
        </p:spPr>
        <p:txBody>
          <a:bodyPr wrap="square" anchor="b" lIns="36576" rIns="36576" tIns="18288" bIns="18288">
            <a:spAutoFit/>
          </a:bodyPr>
          <a:lstStyle/>
          <a:p>
            <a:r>
              <a:rPr sz="2200" b="1">
                <a:solidFill>
                  <a:srgbClr val="C8102E"/>
                </a:solidFill>
                <a:latin typeface="Merriweather"/>
              </a:rPr>
              <a:t>Written for machines, not only for people</a:t>
            </a:r>
          </a:p>
        </p:txBody>
      </p:sp>
      <p:cxnSp>
        <p:nvCxnSpPr>
          <p:cNvPr id="3" name="Connector 2"/>
          <p:cNvCxnSpPr/>
          <p:nvPr/>
        </p:nvCxnSpPr>
        <p:spPr>
          <a:xfrm>
            <a:off x="630936" y="1028700"/>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936" y="4846320"/>
            <a:ext cx="7882127" cy="228600"/>
          </a:xfrm>
          <a:prstGeom prst="rect">
            <a:avLst/>
          </a:prstGeom>
          <a:noFill/>
        </p:spPr>
        <p:txBody>
          <a:bodyPr wrap="square" anchor="t" lIns="36576" rIns="36576" tIns="18288" bIns="18288">
            <a:spAutoFit/>
          </a:bodyPr>
          <a:lstStyle/>
          <a:p>
            <a:r>
              <a:rPr sz="800" b="0">
                <a:solidFill>
                  <a:srgbClr val="8C97A6"/>
                </a:solidFill>
                <a:latin typeface="Open Sans"/>
              </a:rPr>
              <a:t>FAIR Data Curation  ·  ISU TrAC</a:t>
            </a:r>
          </a:p>
        </p:txBody>
      </p:sp>
      <p:sp>
        <p:nvSpPr>
          <p:cNvPr id="5" name="TextBox 4"/>
          <p:cNvSpPr txBox="1"/>
          <p:nvPr/>
        </p:nvSpPr>
        <p:spPr>
          <a:xfrm>
            <a:off x="7863840" y="4846320"/>
            <a:ext cx="649224" cy="228600"/>
          </a:xfrm>
          <a:prstGeom prst="rect">
            <a:avLst/>
          </a:prstGeom>
          <a:noFill/>
        </p:spPr>
        <p:txBody>
          <a:bodyPr wrap="square" anchor="t" lIns="36576" rIns="36576" tIns="18288" bIns="18288">
            <a:spAutoFit/>
          </a:bodyPr>
          <a:lstStyle/>
          <a:p>
            <a:pPr algn="r"/>
            <a:r>
              <a:rPr sz="800" b="0">
                <a:solidFill>
                  <a:srgbClr val="8C97A6"/>
                </a:solidFill>
                <a:latin typeface="Open Sans"/>
              </a:rPr>
              <a:t>6</a:t>
            </a:r>
          </a:p>
        </p:txBody>
      </p:sp>
      <p:pic>
        <p:nvPicPr>
          <p:cNvPr id="6" name="Picture 5" descr="excerpt_machine.png"/>
          <p:cNvPicPr>
            <a:picLocks noChangeAspect="1"/>
          </p:cNvPicPr>
          <p:nvPr/>
        </p:nvPicPr>
        <p:blipFill>
          <a:blip r:embed="rId2"/>
          <a:stretch>
            <a:fillRect/>
          </a:stretch>
        </p:blipFill>
        <p:spPr>
          <a:xfrm>
            <a:off x="1280159" y="1234440"/>
            <a:ext cx="6583680" cy="2022827"/>
          </a:xfrm>
          <a:prstGeom prst="rect">
            <a:avLst/>
          </a:prstGeom>
          <a:ln w="9525">
            <a:solidFill>
              <a:srgbClr val="C9CFD6"/>
            </a:solidFill>
          </a:ln>
        </p:spPr>
      </p:pic>
      <p:sp>
        <p:nvSpPr>
          <p:cNvPr id="7" name="Rectangle 6"/>
          <p:cNvSpPr/>
          <p:nvPr/>
        </p:nvSpPr>
        <p:spPr>
          <a:xfrm>
            <a:off x="630936" y="3401568"/>
            <a:ext cx="2514600" cy="1188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3474720"/>
            <a:ext cx="2295144" cy="1078992"/>
          </a:xfrm>
          <a:prstGeom prst="rect">
            <a:avLst/>
          </a:prstGeom>
          <a:noFill/>
        </p:spPr>
        <p:txBody>
          <a:bodyPr wrap="square" anchor="t" lIns="36576" rIns="36576" tIns="18288" bIns="18288">
            <a:spAutoFit/>
          </a:bodyPr>
          <a:lstStyle/>
          <a:p>
            <a:pPr>
              <a:spcAft>
                <a:spcPts val="300"/>
              </a:spcAft>
            </a:pPr>
            <a:r>
              <a:rPr sz="1250" b="1">
                <a:solidFill>
                  <a:srgbClr val="1B3A5C"/>
                </a:solidFill>
                <a:latin typeface="Open Sans"/>
              </a:rPr>
              <a:t>Search engines</a:t>
            </a:r>
          </a:p>
          <a:p>
            <a:r>
              <a:rPr sz="1100" b="0">
                <a:solidFill>
                  <a:srgbClr val="6E6259"/>
                </a:solidFill>
                <a:latin typeface="Open Sans"/>
              </a:rPr>
              <a:t>Google Dataset Search and repository search read structured metadata, not your README prose.</a:t>
            </a:r>
          </a:p>
        </p:txBody>
      </p:sp>
      <p:sp>
        <p:nvSpPr>
          <p:cNvPr id="9" name="Rectangle 8"/>
          <p:cNvSpPr/>
          <p:nvPr/>
        </p:nvSpPr>
        <p:spPr>
          <a:xfrm>
            <a:off x="3314700" y="3401568"/>
            <a:ext cx="2514600" cy="11887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4428" y="3474720"/>
            <a:ext cx="2295144" cy="1078992"/>
          </a:xfrm>
          <a:prstGeom prst="rect">
            <a:avLst/>
          </a:prstGeom>
          <a:noFill/>
        </p:spPr>
        <p:txBody>
          <a:bodyPr wrap="square" anchor="t" lIns="36576" rIns="36576" tIns="18288" bIns="18288">
            <a:spAutoFit/>
          </a:bodyPr>
          <a:lstStyle/>
          <a:p>
            <a:pPr>
              <a:spcAft>
                <a:spcPts val="300"/>
              </a:spcAft>
            </a:pPr>
            <a:r>
              <a:rPr sz="1250" b="1">
                <a:solidFill>
                  <a:srgbClr val="1B3A5C"/>
                </a:solidFill>
                <a:latin typeface="Open Sans"/>
              </a:rPr>
              <a:t>Scripts and pipelines</a:t>
            </a:r>
          </a:p>
          <a:p>
            <a:r>
              <a:rPr sz="1100" b="0">
                <a:solidFill>
                  <a:srgbClr val="6E6259"/>
                </a:solidFill>
                <a:latin typeface="Open Sans"/>
              </a:rPr>
              <a:t>A loader can pull every LiDAR file from session 03 only if names and metadata follow a rule.</a:t>
            </a:r>
          </a:p>
        </p:txBody>
      </p:sp>
      <p:sp>
        <p:nvSpPr>
          <p:cNvPr id="11" name="Rectangle 10"/>
          <p:cNvSpPr/>
          <p:nvPr/>
        </p:nvSpPr>
        <p:spPr>
          <a:xfrm>
            <a:off x="5998464" y="3401568"/>
            <a:ext cx="2514600" cy="1188720"/>
          </a:xfrm>
          <a:prstGeom prst="rect">
            <a:avLst/>
          </a:prstGeom>
          <a:solidFill>
            <a:srgbClr val="D4E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08192" y="3474720"/>
            <a:ext cx="2295144" cy="1078992"/>
          </a:xfrm>
          <a:prstGeom prst="rect">
            <a:avLst/>
          </a:prstGeom>
          <a:noFill/>
        </p:spPr>
        <p:txBody>
          <a:bodyPr wrap="square" anchor="t" lIns="36576" rIns="36576" tIns="18288" bIns="18288">
            <a:spAutoFit/>
          </a:bodyPr>
          <a:lstStyle/>
          <a:p>
            <a:pPr>
              <a:spcAft>
                <a:spcPts val="300"/>
              </a:spcAft>
            </a:pPr>
            <a:r>
              <a:rPr sz="1250" b="1">
                <a:solidFill>
                  <a:srgbClr val="1B3A5C"/>
                </a:solidFill>
                <a:latin typeface="Open Sans"/>
              </a:rPr>
              <a:t>AI agents</a:t>
            </a:r>
          </a:p>
          <a:p>
            <a:r>
              <a:rPr sz="1100" b="0">
                <a:solidFill>
                  <a:srgbClr val="6E6259"/>
                </a:solidFill>
                <a:latin typeface="Open Sans"/>
              </a:rPr>
              <a:t>An agent can find, check, and load a Croissant-described dataset without emailing you.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0936" y="365760"/>
            <a:ext cx="7882127" cy="603504"/>
          </a:xfrm>
          <a:prstGeom prst="rect">
            <a:avLst/>
          </a:prstGeom>
          <a:noFill/>
        </p:spPr>
        <p:txBody>
          <a:bodyPr wrap="square" anchor="b" lIns="36576" rIns="36576" tIns="18288" bIns="18288">
            <a:spAutoFit/>
          </a:bodyPr>
          <a:lstStyle/>
          <a:p>
            <a:r>
              <a:rPr sz="1950" b="1">
                <a:solidFill>
                  <a:srgbClr val="C8102E"/>
                </a:solidFill>
                <a:latin typeface="Merriweather"/>
              </a:rPr>
              <a:t>How to score it: one weak letter sinks the whole dataset</a:t>
            </a:r>
          </a:p>
        </p:txBody>
      </p:sp>
      <p:cxnSp>
        <p:nvCxnSpPr>
          <p:cNvPr id="3" name="Connector 2"/>
          <p:cNvCxnSpPr/>
          <p:nvPr/>
        </p:nvCxnSpPr>
        <p:spPr>
          <a:xfrm>
            <a:off x="630936" y="1028700"/>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936" y="4846320"/>
            <a:ext cx="7882127" cy="228600"/>
          </a:xfrm>
          <a:prstGeom prst="rect">
            <a:avLst/>
          </a:prstGeom>
          <a:noFill/>
        </p:spPr>
        <p:txBody>
          <a:bodyPr wrap="square" anchor="t" lIns="36576" rIns="36576" tIns="18288" bIns="18288">
            <a:spAutoFit/>
          </a:bodyPr>
          <a:lstStyle/>
          <a:p>
            <a:r>
              <a:rPr sz="800" b="0">
                <a:solidFill>
                  <a:srgbClr val="8C97A6"/>
                </a:solidFill>
                <a:latin typeface="Open Sans"/>
              </a:rPr>
              <a:t>FAIR Data Curation  ·  ISU TrAC</a:t>
            </a:r>
          </a:p>
        </p:txBody>
      </p:sp>
      <p:sp>
        <p:nvSpPr>
          <p:cNvPr id="5" name="TextBox 4"/>
          <p:cNvSpPr txBox="1"/>
          <p:nvPr/>
        </p:nvSpPr>
        <p:spPr>
          <a:xfrm>
            <a:off x="7863840" y="4846320"/>
            <a:ext cx="649224" cy="228600"/>
          </a:xfrm>
          <a:prstGeom prst="rect">
            <a:avLst/>
          </a:prstGeom>
          <a:noFill/>
        </p:spPr>
        <p:txBody>
          <a:bodyPr wrap="square" anchor="t" lIns="36576" rIns="36576" tIns="18288" bIns="18288">
            <a:spAutoFit/>
          </a:bodyPr>
          <a:lstStyle/>
          <a:p>
            <a:pPr algn="r"/>
            <a:r>
              <a:rPr sz="800" b="0">
                <a:solidFill>
                  <a:srgbClr val="8C97A6"/>
                </a:solidFill>
                <a:latin typeface="Open Sans"/>
              </a:rPr>
              <a:t>7</a:t>
            </a:r>
          </a:p>
        </p:txBody>
      </p:sp>
      <p:sp>
        <p:nvSpPr>
          <p:cNvPr id="6" name="TextBox 5"/>
          <p:cNvSpPr txBox="1"/>
          <p:nvPr/>
        </p:nvSpPr>
        <p:spPr>
          <a:xfrm>
            <a:off x="630936" y="1216152"/>
            <a:ext cx="2788920" cy="3383280"/>
          </a:xfrm>
          <a:prstGeom prst="rect">
            <a:avLst/>
          </a:prstGeom>
          <a:noFill/>
        </p:spPr>
        <p:txBody>
          <a:bodyPr wrap="square" anchor="t" lIns="36576" rIns="36576" tIns="18288" bIns="18288">
            <a:spAutoFit/>
          </a:bodyPr>
          <a:lstStyle/>
          <a:p>
            <a:pPr algn="l">
              <a:spcAft>
                <a:spcPts val="419"/>
              </a:spcAft>
            </a:pPr>
            <a:r>
              <a:rPr sz="1200" b="0">
                <a:solidFill>
                  <a:srgbClr val="6E6259"/>
                </a:solidFill>
                <a:latin typeface="Open Sans"/>
              </a:rPr>
              <a:t>Score each of the 15 sub-principles 0, 0.5, or 1.</a:t>
            </a:r>
          </a:p>
          <a:p>
            <a:pPr algn="l">
              <a:spcBef>
                <a:spcPts val="660"/>
              </a:spcBef>
              <a:spcAft>
                <a:spcPts val="100"/>
              </a:spcAft>
            </a:pPr>
            <a:r>
              <a:rPr sz="1250" b="1">
                <a:solidFill>
                  <a:srgbClr val="1B3A5C"/>
                </a:solidFill>
                <a:latin typeface="Open Sans"/>
              </a:rPr>
              <a:t>Average</a:t>
            </a:r>
          </a:p>
          <a:p>
            <a:pPr algn="l">
              <a:spcAft>
                <a:spcPts val="419"/>
              </a:spcAft>
            </a:pPr>
            <a:r>
              <a:rPr sz="1200" b="0">
                <a:solidFill>
                  <a:srgbClr val="6E6259"/>
                </a:solidFill>
                <a:latin typeface="Open Sans"/>
              </a:rPr>
              <a:t>FAIR% = (100 / 15) × Σ s_k</a:t>
            </a:r>
          </a:p>
          <a:p>
            <a:pPr algn="l">
              <a:spcBef>
                <a:spcPts val="660"/>
              </a:spcBef>
              <a:spcAft>
                <a:spcPts val="100"/>
              </a:spcAft>
            </a:pPr>
            <a:r>
              <a:rPr sz="1250" b="1">
                <a:solidFill>
                  <a:srgbClr val="1B3A5C"/>
                </a:solidFill>
                <a:latin typeface="Open Sans"/>
              </a:rPr>
              <a:t>Weakest link (teaching model)</a:t>
            </a:r>
          </a:p>
          <a:p>
            <a:pPr algn="l">
              <a:spcAft>
                <a:spcPts val="419"/>
              </a:spcAft>
            </a:pPr>
            <a:r>
              <a:rPr sz="1200" b="0">
                <a:solidFill>
                  <a:srgbClr val="6E6259"/>
                </a:solidFill>
                <a:latin typeface="Open Sans"/>
              </a:rPr>
              <a:t>P(reuse) ≈ F × A × I × R</a:t>
            </a:r>
          </a:p>
          <a:p>
            <a:pPr algn="l">
              <a:spcAft>
                <a:spcPts val="419"/>
              </a:spcAft>
            </a:pPr>
            <a:r>
              <a:rPr sz="1200" b="0">
                <a:solidFill>
                  <a:srgbClr val="6E6259"/>
                </a:solidFill>
                <a:latin typeface="Open Sans"/>
              </a:rPr>
              <a:t>Reuse needs find AND open AND read AND trust, so the letters multiply.</a:t>
            </a:r>
          </a:p>
          <a:p>
            <a:pPr algn="l">
              <a:spcBef>
                <a:spcPts val="660"/>
              </a:spcBef>
              <a:spcAft>
                <a:spcPts val="100"/>
              </a:spcAft>
            </a:pPr>
            <a:r>
              <a:rPr sz="1250" b="1">
                <a:solidFill>
                  <a:srgbClr val="1B3A5C"/>
                </a:solidFill>
                <a:latin typeface="Open Sans"/>
              </a:rPr>
              <a:t>Our LiDAR example</a:t>
            </a:r>
          </a:p>
          <a:p>
            <a:pPr algn="l">
              <a:spcAft>
                <a:spcPts val="419"/>
              </a:spcAft>
            </a:pPr>
            <a:r>
              <a:rPr sz="1200" b="0">
                <a:solidFill>
                  <a:srgbClr val="6E6259"/>
                </a:solidFill>
                <a:latin typeface="Open Sans"/>
              </a:rPr>
              <a:t>Mean: </a:t>
            </a:r>
            <a:r>
              <a:rPr sz="1200" b="1">
                <a:solidFill>
                  <a:srgbClr val="222222"/>
                </a:solidFill>
                <a:latin typeface="Open Sans"/>
              </a:rPr>
              <a:t>26.7% → 93.3%</a:t>
            </a:r>
            <a:r>
              <a:rPr sz="1200" b="0">
                <a:solidFill>
                  <a:srgbClr val="6E6259"/>
                </a:solidFill>
                <a:latin typeface="Open Sans"/>
              </a:rPr>
              <a:t> (3.5×)</a:t>
            </a:r>
          </a:p>
          <a:p>
            <a:pPr algn="l">
              <a:spcAft>
                <a:spcPts val="419"/>
              </a:spcAft>
            </a:pPr>
            <a:r>
              <a:rPr sz="1200" b="0">
                <a:solidFill>
                  <a:srgbClr val="6E6259"/>
                </a:solidFill>
                <a:latin typeface="Open Sans"/>
              </a:rPr>
              <a:t>Product: </a:t>
            </a:r>
            <a:r>
              <a:rPr sz="1200" b="1">
                <a:solidFill>
                  <a:srgbClr val="222222"/>
                </a:solidFill>
                <a:latin typeface="Open Sans"/>
              </a:rPr>
              <a:t>0.0026 → 0.729</a:t>
            </a:r>
            <a:r>
              <a:rPr sz="1200" b="0">
                <a:solidFill>
                  <a:srgbClr val="6E6259"/>
                </a:solidFill>
                <a:latin typeface="Open Sans"/>
              </a:rPr>
              <a:t> (280×)</a:t>
            </a:r>
          </a:p>
        </p:txBody>
      </p:sp>
      <p:pic>
        <p:nvPicPr>
          <p:cNvPr id="7" name="Picture 6" descr="fair_score_chart.png"/>
          <p:cNvPicPr>
            <a:picLocks noChangeAspect="1"/>
          </p:cNvPicPr>
          <p:nvPr/>
        </p:nvPicPr>
        <p:blipFill>
          <a:blip r:embed="rId2"/>
          <a:stretch>
            <a:fillRect/>
          </a:stretch>
        </p:blipFill>
        <p:spPr>
          <a:xfrm>
            <a:off x="3611880" y="1325880"/>
            <a:ext cx="4901184" cy="2058497"/>
          </a:xfrm>
          <a:prstGeom prst="rect">
            <a:avLst/>
          </a:prstGeom>
        </p:spPr>
      </p:pic>
      <p:sp>
        <p:nvSpPr>
          <p:cNvPr id="8" name="TextBox 7"/>
          <p:cNvSpPr txBox="1"/>
          <p:nvPr/>
        </p:nvSpPr>
        <p:spPr>
          <a:xfrm>
            <a:off x="630936" y="4645152"/>
            <a:ext cx="7882127" cy="201168"/>
          </a:xfrm>
          <a:prstGeom prst="rect">
            <a:avLst/>
          </a:prstGeom>
          <a:noFill/>
        </p:spPr>
        <p:txBody>
          <a:bodyPr wrap="square" anchor="t" lIns="36576" rIns="36576" tIns="18288" bIns="18288">
            <a:spAutoFit/>
          </a:bodyPr>
          <a:lstStyle/>
          <a:p>
            <a:r>
              <a:rPr sz="800" b="0">
                <a:solidFill>
                  <a:srgbClr val="8C97A6"/>
                </a:solidFill>
                <a:latin typeface="Open Sans"/>
              </a:rPr>
              <a:t>Source: Worked example and scoring from our FAIR lesson; the product model is a teaching aid, not a published metric.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0936" y="365760"/>
            <a:ext cx="7882127" cy="603504"/>
          </a:xfrm>
          <a:prstGeom prst="rect">
            <a:avLst/>
          </a:prstGeom>
          <a:noFill/>
        </p:spPr>
        <p:txBody>
          <a:bodyPr wrap="square" anchor="b" lIns="36576" rIns="36576" tIns="18288" bIns="18288">
            <a:spAutoFit/>
          </a:bodyPr>
          <a:lstStyle/>
          <a:p>
            <a:r>
              <a:rPr sz="1950" b="1">
                <a:solidFill>
                  <a:srgbClr val="C8102E"/>
                </a:solidFill>
                <a:latin typeface="Merriweather"/>
              </a:rPr>
              <a:t>Rule 1: one numbered folder layout for every project</a:t>
            </a:r>
          </a:p>
        </p:txBody>
      </p:sp>
      <p:cxnSp>
        <p:nvCxnSpPr>
          <p:cNvPr id="3" name="Connector 2"/>
          <p:cNvCxnSpPr/>
          <p:nvPr/>
        </p:nvCxnSpPr>
        <p:spPr>
          <a:xfrm>
            <a:off x="630936" y="1028700"/>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936" y="4846320"/>
            <a:ext cx="7882127" cy="228600"/>
          </a:xfrm>
          <a:prstGeom prst="rect">
            <a:avLst/>
          </a:prstGeom>
          <a:noFill/>
        </p:spPr>
        <p:txBody>
          <a:bodyPr wrap="square" anchor="t" lIns="36576" rIns="36576" tIns="18288" bIns="18288">
            <a:spAutoFit/>
          </a:bodyPr>
          <a:lstStyle/>
          <a:p>
            <a:r>
              <a:rPr sz="800" b="0">
                <a:solidFill>
                  <a:srgbClr val="8C97A6"/>
                </a:solidFill>
                <a:latin typeface="Open Sans"/>
              </a:rPr>
              <a:t>FAIR Data Curation  ·  ISU TrAC</a:t>
            </a:r>
          </a:p>
        </p:txBody>
      </p:sp>
      <p:sp>
        <p:nvSpPr>
          <p:cNvPr id="5" name="TextBox 4"/>
          <p:cNvSpPr txBox="1"/>
          <p:nvPr/>
        </p:nvSpPr>
        <p:spPr>
          <a:xfrm>
            <a:off x="7863840" y="4846320"/>
            <a:ext cx="649224" cy="228600"/>
          </a:xfrm>
          <a:prstGeom prst="rect">
            <a:avLst/>
          </a:prstGeom>
          <a:noFill/>
        </p:spPr>
        <p:txBody>
          <a:bodyPr wrap="square" anchor="t" lIns="36576" rIns="36576" tIns="18288" bIns="18288">
            <a:spAutoFit/>
          </a:bodyPr>
          <a:lstStyle/>
          <a:p>
            <a:pPr algn="r"/>
            <a:r>
              <a:rPr sz="800" b="0">
                <a:solidFill>
                  <a:srgbClr val="8C97A6"/>
                </a:solidFill>
                <a:latin typeface="Open Sans"/>
              </a:rPr>
              <a:t>8</a:t>
            </a:r>
          </a:p>
        </p:txBody>
      </p:sp>
      <p:sp>
        <p:nvSpPr>
          <p:cNvPr id="6" name="Rectangle 5"/>
          <p:cNvSpPr/>
          <p:nvPr/>
        </p:nvSpPr>
        <p:spPr>
          <a:xfrm>
            <a:off x="630936" y="1280160"/>
            <a:ext cx="4343400" cy="3291840"/>
          </a:xfrm>
          <a:prstGeom prst="rect">
            <a:avLst/>
          </a:prstGeom>
          <a:solidFill>
            <a:srgbClr val="F4F6F8"/>
          </a:solidFill>
          <a:ln w="9525">
            <a:solidFill>
              <a:srgbClr val="DCE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5" y="1353312"/>
            <a:ext cx="4160520" cy="3145536"/>
          </a:xfrm>
          <a:prstGeom prst="rect">
            <a:avLst/>
          </a:prstGeom>
          <a:noFill/>
        </p:spPr>
        <p:txBody>
          <a:bodyPr wrap="square" anchor="t" lIns="36576" rIns="36576" tIns="18288" bIns="18288">
            <a:spAutoFit/>
          </a:bodyPr>
          <a:lstStyle/>
          <a:p>
            <a:r>
              <a:rPr sz="1050">
                <a:solidFill>
                  <a:srgbClr val="1B3A5C"/>
                </a:solidFill>
                <a:latin typeface="Consolas"/>
              </a:rPr>
              <a:t>maize-uav-lidar-2025/</a:t>
            </a:r>
          </a:p>
          <a:p>
            <a:r>
              <a:rPr sz="1050">
                <a:solidFill>
                  <a:srgbClr val="222222"/>
                </a:solidFill>
                <a:latin typeface="Consolas"/>
              </a:rPr>
              <a:t>  README.md            &lt;- start here</a:t>
            </a:r>
          </a:p>
          <a:p>
            <a:r>
              <a:rPr sz="1050">
                <a:solidFill>
                  <a:srgbClr val="222222"/>
                </a:solidFill>
                <a:latin typeface="Consolas"/>
              </a:rPr>
              <a:t>  00_docs/             notes, protocols</a:t>
            </a:r>
          </a:p>
          <a:p>
            <a:r>
              <a:rPr sz="1050">
                <a:solidFill>
                  <a:srgbClr val="222222"/>
                </a:solidFill>
                <a:latin typeface="Consolas"/>
              </a:rPr>
              <a:t>  01_metadata/         plot map, calibration,</a:t>
            </a:r>
          </a:p>
          <a:p>
            <a:r>
              <a:rPr sz="1050">
                <a:solidFill>
                  <a:srgbClr val="222222"/>
                </a:solidFill>
                <a:latin typeface="Consolas"/>
              </a:rPr>
              <a:t>                       manifest, MIAPPE, Croissant</a:t>
            </a:r>
          </a:p>
          <a:p>
            <a:r>
              <a:rPr sz="1050">
                <a:solidFill>
                  <a:srgbClr val="222222"/>
                </a:solidFill>
                <a:latin typeface="Consolas"/>
              </a:rPr>
              <a:t>  02_raw/              straight off the sensor</a:t>
            </a:r>
          </a:p>
          <a:p>
            <a:r>
              <a:rPr sz="1050">
                <a:solidFill>
                  <a:srgbClr val="222222"/>
                </a:solidFill>
                <a:latin typeface="Consolas"/>
              </a:rPr>
              <a:t>    01_uav_rgb/01_2025-07-14/</a:t>
            </a:r>
          </a:p>
          <a:p>
            <a:r>
              <a:rPr sz="1050">
                <a:solidFill>
                  <a:srgbClr val="222222"/>
                </a:solidFill>
                <a:latin typeface="Consolas"/>
              </a:rPr>
              <a:t>    04_lidar/02_2025-08-02/</a:t>
            </a:r>
          </a:p>
          <a:p>
            <a:r>
              <a:rPr sz="1050">
                <a:solidFill>
                  <a:srgbClr val="222222"/>
                </a:solidFill>
                <a:latin typeface="Consolas"/>
              </a:rPr>
              <a:t>  03_processed/        orthomosaics, clouds, 3DGS</a:t>
            </a:r>
          </a:p>
          <a:p>
            <a:r>
              <a:rPr sz="1050">
                <a:solidFill>
                  <a:srgbClr val="222222"/>
                </a:solidFill>
                <a:latin typeface="Consolas"/>
              </a:rPr>
              <a:t>  04_results/          trait tables, models</a:t>
            </a:r>
          </a:p>
          <a:p>
            <a:r>
              <a:rPr sz="1050">
                <a:solidFill>
                  <a:srgbClr val="222222"/>
                </a:solidFill>
                <a:latin typeface="Consolas"/>
              </a:rPr>
              <a:t>  05_code/             scripts, git commit</a:t>
            </a:r>
          </a:p>
          <a:p>
            <a:r>
              <a:rPr sz="1050">
                <a:solidFill>
                  <a:srgbClr val="222222"/>
                </a:solidFill>
                <a:latin typeface="Consolas"/>
              </a:rPr>
              <a:t>  99_review/           possible duplicates</a:t>
            </a:r>
          </a:p>
        </p:txBody>
      </p:sp>
      <p:sp>
        <p:nvSpPr>
          <p:cNvPr id="8" name="TextBox 7"/>
          <p:cNvSpPr txBox="1"/>
          <p:nvPr/>
        </p:nvSpPr>
        <p:spPr>
          <a:xfrm>
            <a:off x="5166360" y="1280160"/>
            <a:ext cx="3346704" cy="3291840"/>
          </a:xfrm>
          <a:prstGeom prst="rect">
            <a:avLst/>
          </a:prstGeom>
          <a:noFill/>
        </p:spPr>
        <p:txBody>
          <a:bodyPr wrap="square" anchor="t" lIns="36576" rIns="36576" tIns="18288" bIns="18288">
            <a:spAutoFit/>
          </a:bodyPr>
          <a:lstStyle/>
          <a:p>
            <a:pPr algn="l">
              <a:spcBef>
                <a:spcPts val="660"/>
              </a:spcBef>
              <a:spcAft>
                <a:spcPts val="100"/>
              </a:spcAft>
            </a:pPr>
            <a:r>
              <a:rPr sz="1250" b="1">
                <a:solidFill>
                  <a:srgbClr val="1B3A5C"/>
                </a:solidFill>
                <a:latin typeface="Open Sans"/>
              </a:rPr>
              <a:t>Read the numbers in order</a:t>
            </a:r>
          </a:p>
          <a:p>
            <a:pPr algn="l">
              <a:spcAft>
                <a:spcPts val="419"/>
              </a:spcAft>
            </a:pPr>
            <a:r>
              <a:rPr sz="1200" b="0">
                <a:solidFill>
                  <a:srgbClr val="6E6259"/>
                </a:solidFill>
                <a:latin typeface="Open Sans"/>
              </a:rPr>
              <a:t>00 → 05 is the path a new student should follow: what it is, how to read it, the data, what we made from it, and the code.</a:t>
            </a:r>
          </a:p>
          <a:p>
            <a:pPr algn="l">
              <a:spcBef>
                <a:spcPts val="660"/>
              </a:spcBef>
              <a:spcAft>
                <a:spcPts val="100"/>
              </a:spcAft>
            </a:pPr>
            <a:r>
              <a:rPr sz="1250" b="1">
                <a:solidFill>
                  <a:srgbClr val="1B3A5C"/>
                </a:solidFill>
                <a:latin typeface="Open Sans"/>
              </a:rPr>
              <a:t>Inside each folder</a:t>
            </a:r>
          </a:p>
          <a:p>
            <a:pPr algn="l">
              <a:spcAft>
                <a:spcPts val="419"/>
              </a:spcAft>
            </a:pPr>
            <a:r>
              <a:rPr sz="1200" b="0">
                <a:solidFill>
                  <a:srgbClr val="6E6259"/>
                </a:solidFill>
                <a:latin typeface="Open Sans"/>
              </a:rPr>
              <a:t>Data types are numbered in </a:t>
            </a:r>
            <a:r>
              <a:rPr sz="1200" b="1">
                <a:solidFill>
                  <a:srgbClr val="222222"/>
                </a:solidFill>
                <a:latin typeface="Open Sans"/>
              </a:rPr>
              <a:t>pipeline order</a:t>
            </a:r>
            <a:r>
              <a:rPr sz="1200" b="0">
                <a:solidFill>
                  <a:srgbClr val="6E6259"/>
                </a:solidFill>
                <a:latin typeface="Open Sans"/>
              </a:rPr>
              <a:t>: sensor data before the products made from it.</a:t>
            </a:r>
          </a:p>
          <a:p>
            <a:pPr algn="l">
              <a:spcBef>
                <a:spcPts val="660"/>
              </a:spcBef>
              <a:spcAft>
                <a:spcPts val="100"/>
              </a:spcAft>
            </a:pPr>
            <a:r>
              <a:rPr sz="1250" b="1">
                <a:solidFill>
                  <a:srgbClr val="1B3A5C"/>
                </a:solidFill>
                <a:latin typeface="Open Sans"/>
              </a:rPr>
              <a:t>Raw is read-only</a:t>
            </a:r>
          </a:p>
          <a:p>
            <a:pPr algn="l">
              <a:spcAft>
                <a:spcPts val="419"/>
              </a:spcAft>
            </a:pPr>
            <a:r>
              <a:rPr sz="1200" b="0">
                <a:solidFill>
                  <a:srgbClr val="6E6259"/>
                </a:solidFill>
                <a:latin typeface="Open Sans"/>
              </a:rPr>
              <a:t>Never edit files in 02_raw. Everything else can be rebuilt from raw + code.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0936" y="365760"/>
            <a:ext cx="7882127" cy="603504"/>
          </a:xfrm>
          <a:prstGeom prst="rect">
            <a:avLst/>
          </a:prstGeom>
          <a:noFill/>
        </p:spPr>
        <p:txBody>
          <a:bodyPr wrap="square" anchor="b" lIns="36576" rIns="36576" tIns="18288" bIns="18288">
            <a:spAutoFit/>
          </a:bodyPr>
          <a:lstStyle/>
          <a:p>
            <a:r>
              <a:rPr sz="1950" b="1">
                <a:solidFill>
                  <a:srgbClr val="C8102E"/>
                </a:solidFill>
                <a:latin typeface="Merriweather"/>
              </a:rPr>
              <a:t>Rule 2: names carry the date, the session, and nothing else</a:t>
            </a:r>
          </a:p>
        </p:txBody>
      </p:sp>
      <p:cxnSp>
        <p:nvCxnSpPr>
          <p:cNvPr id="3" name="Connector 2"/>
          <p:cNvCxnSpPr/>
          <p:nvPr/>
        </p:nvCxnSpPr>
        <p:spPr>
          <a:xfrm>
            <a:off x="630936" y="1028700"/>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936" y="4846320"/>
            <a:ext cx="7882127" cy="228600"/>
          </a:xfrm>
          <a:prstGeom prst="rect">
            <a:avLst/>
          </a:prstGeom>
          <a:noFill/>
        </p:spPr>
        <p:txBody>
          <a:bodyPr wrap="square" anchor="t" lIns="36576" rIns="36576" tIns="18288" bIns="18288">
            <a:spAutoFit/>
          </a:bodyPr>
          <a:lstStyle/>
          <a:p>
            <a:r>
              <a:rPr sz="800" b="0">
                <a:solidFill>
                  <a:srgbClr val="8C97A6"/>
                </a:solidFill>
                <a:latin typeface="Open Sans"/>
              </a:rPr>
              <a:t>FAIR Data Curation  ·  ISU TrAC</a:t>
            </a:r>
          </a:p>
        </p:txBody>
      </p:sp>
      <p:sp>
        <p:nvSpPr>
          <p:cNvPr id="5" name="TextBox 4"/>
          <p:cNvSpPr txBox="1"/>
          <p:nvPr/>
        </p:nvSpPr>
        <p:spPr>
          <a:xfrm>
            <a:off x="7863840" y="4846320"/>
            <a:ext cx="649224" cy="228600"/>
          </a:xfrm>
          <a:prstGeom prst="rect">
            <a:avLst/>
          </a:prstGeom>
          <a:noFill/>
        </p:spPr>
        <p:txBody>
          <a:bodyPr wrap="square" anchor="t" lIns="36576" rIns="36576" tIns="18288" bIns="18288">
            <a:spAutoFit/>
          </a:bodyPr>
          <a:lstStyle/>
          <a:p>
            <a:pPr algn="r"/>
            <a:r>
              <a:rPr sz="800" b="0">
                <a:solidFill>
                  <a:srgbClr val="8C97A6"/>
                </a:solidFill>
                <a:latin typeface="Open Sans"/>
              </a:rPr>
              <a:t>9</a:t>
            </a:r>
          </a:p>
        </p:txBody>
      </p:sp>
      <p:sp>
        <p:nvSpPr>
          <p:cNvPr id="6" name="TextBox 5"/>
          <p:cNvSpPr txBox="1"/>
          <p:nvPr/>
        </p:nvSpPr>
        <p:spPr>
          <a:xfrm>
            <a:off x="630936" y="1216152"/>
            <a:ext cx="7882127" cy="1417320"/>
          </a:xfrm>
          <a:prstGeom prst="rect">
            <a:avLst/>
          </a:prstGeom>
          <a:noFill/>
        </p:spPr>
        <p:txBody>
          <a:bodyPr wrap="square" anchor="t" lIns="36576" rIns="36576" tIns="18288" bIns="18288">
            <a:spAutoFit/>
          </a:bodyPr>
          <a:lstStyle/>
          <a:p>
            <a:pPr algn="l" marL="182880" indent="-182880">
              <a:spcAft>
                <a:spcPts val="419"/>
              </a:spcAft>
              <a:buClr>
                <a:srgbClr val="CE1126"/>
              </a:buClr>
              <a:buFont typeface="Arial"/>
              <a:buChar char="•"/>
            </a:pPr>
            <a:r>
              <a:rPr sz="1200" b="0">
                <a:solidFill>
                  <a:srgbClr val="6E6259"/>
                </a:solidFill>
                <a:latin typeface="Open Sans"/>
              </a:rPr>
              <a:t>Dates in ISO 8601: </a:t>
            </a:r>
            <a:r>
              <a:rPr sz="1200" b="1">
                <a:solidFill>
                  <a:srgbClr val="222222"/>
                </a:solidFill>
                <a:latin typeface="Open Sans"/>
              </a:rPr>
              <a:t>2025-07-14</a:t>
            </a:r>
            <a:r>
              <a:rPr sz="1200" b="0">
                <a:solidFill>
                  <a:srgbClr val="6E6259"/>
                </a:solidFill>
                <a:latin typeface="Open Sans"/>
              </a:rPr>
              <a:t> in folders, </a:t>
            </a:r>
            <a:r>
              <a:rPr sz="1200" b="1">
                <a:solidFill>
                  <a:srgbClr val="222222"/>
                </a:solidFill>
                <a:latin typeface="Open Sans"/>
              </a:rPr>
              <a:t>20250714</a:t>
            </a:r>
            <a:r>
              <a:rPr sz="1200" b="0">
                <a:solidFill>
                  <a:srgbClr val="6E6259"/>
                </a:solidFill>
                <a:latin typeface="Open Sans"/>
              </a:rPr>
              <a:t> in names, so they sort in time order.</a:t>
            </a:r>
          </a:p>
          <a:p>
            <a:pPr algn="l" marL="182880" indent="-182880">
              <a:spcAft>
                <a:spcPts val="419"/>
              </a:spcAft>
              <a:buClr>
                <a:srgbClr val="CE1126"/>
              </a:buClr>
              <a:buFont typeface="Arial"/>
              <a:buChar char="•"/>
            </a:pPr>
            <a:r>
              <a:rPr sz="1200" b="0">
                <a:solidFill>
                  <a:srgbClr val="6E6259"/>
                </a:solidFill>
                <a:latin typeface="Open Sans"/>
              </a:rPr>
              <a:t>Each field day gets one </a:t>
            </a:r>
            <a:r>
              <a:rPr sz="1200" b="1">
                <a:solidFill>
                  <a:srgbClr val="222222"/>
                </a:solidFill>
                <a:latin typeface="Open Sans"/>
              </a:rPr>
              <a:t>session number</a:t>
            </a:r>
            <a:r>
              <a:rPr sz="1200" b="0">
                <a:solidFill>
                  <a:srgbClr val="6E6259"/>
                </a:solidFill>
                <a:latin typeface="Open Sans"/>
              </a:rPr>
              <a:t> shared by every sensor: s01 = 2025-07-14 for drone, LiDAR, and photos.</a:t>
            </a:r>
          </a:p>
          <a:p>
            <a:pPr algn="l" marL="182880" indent="-182880">
              <a:spcAft>
                <a:spcPts val="419"/>
              </a:spcAft>
              <a:buClr>
                <a:srgbClr val="CE1126"/>
              </a:buClr>
              <a:buFont typeface="Arial"/>
              <a:buChar char="•"/>
            </a:pPr>
            <a:r>
              <a:rPr sz="1200" b="0">
                <a:solidFill>
                  <a:srgbClr val="6E6259"/>
                </a:solidFill>
                <a:latin typeface="Open Sans"/>
              </a:rPr>
              <a:t>No spaces, and no </a:t>
            </a:r>
            <a:r>
              <a:rPr sz="1200" b="1">
                <a:solidFill>
                  <a:srgbClr val="222222"/>
                </a:solidFill>
                <a:latin typeface="Open Sans"/>
              </a:rPr>
              <a:t>final</a:t>
            </a:r>
            <a:r>
              <a:rPr sz="1200" b="0">
                <a:solidFill>
                  <a:srgbClr val="6E6259"/>
                </a:solidFill>
                <a:latin typeface="Open Sans"/>
              </a:rPr>
              <a:t>, </a:t>
            </a:r>
            <a:r>
              <a:rPr sz="1200" b="1">
                <a:solidFill>
                  <a:srgbClr val="222222"/>
                </a:solidFill>
                <a:latin typeface="Open Sans"/>
              </a:rPr>
              <a:t>v3</a:t>
            </a:r>
            <a:r>
              <a:rPr sz="1200" b="0">
                <a:solidFill>
                  <a:srgbClr val="6E6259"/>
                </a:solidFill>
                <a:latin typeface="Open Sans"/>
              </a:rPr>
              <a:t>, </a:t>
            </a:r>
            <a:r>
              <a:rPr sz="1200" b="1">
                <a:solidFill>
                  <a:srgbClr val="222222"/>
                </a:solidFill>
                <a:latin typeface="Open Sans"/>
              </a:rPr>
              <a:t>REAL</a:t>
            </a:r>
            <a:r>
              <a:rPr sz="1200" b="0">
                <a:solidFill>
                  <a:srgbClr val="6E6259"/>
                </a:solidFill>
                <a:latin typeface="Open Sans"/>
              </a:rPr>
              <a:t>, or </a:t>
            </a:r>
            <a:r>
              <a:rPr sz="1200" b="1">
                <a:solidFill>
                  <a:srgbClr val="222222"/>
                </a:solidFill>
                <a:latin typeface="Open Sans"/>
              </a:rPr>
              <a:t>copy</a:t>
            </a:r>
            <a:r>
              <a:rPr sz="1200" b="0">
                <a:solidFill>
                  <a:srgbClr val="6E6259"/>
                </a:solidFill>
                <a:latin typeface="Open Sans"/>
              </a:rPr>
              <a:t>. Versions live in git or the README.</a:t>
            </a:r>
          </a:p>
          <a:p>
            <a:pPr algn="l" marL="182880" indent="-182880">
              <a:spcAft>
                <a:spcPts val="419"/>
              </a:spcAft>
              <a:buClr>
                <a:srgbClr val="CE1126"/>
              </a:buClr>
              <a:buFont typeface="Arial"/>
              <a:buChar char="•"/>
            </a:pPr>
            <a:r>
              <a:rPr sz="1200" b="0">
                <a:solidFill>
                  <a:srgbClr val="6E6259"/>
                </a:solidFill>
                <a:latin typeface="Open Sans"/>
              </a:rPr>
              <a:t>Keep sensor timestamp names (DJI_2025…); rename only meaningless ones (IMG_4521, Untitled1).</a:t>
            </a:r>
          </a:p>
        </p:txBody>
      </p:sp>
      <p:graphicFrame>
        <p:nvGraphicFramePr>
          <p:cNvPr id="7" name="Table 6"/>
          <p:cNvGraphicFramePr>
            <a:graphicFrameLocks noGrp="1"/>
          </p:cNvGraphicFramePr>
          <p:nvPr/>
        </p:nvGraphicFramePr>
        <p:xfrm>
          <a:off x="630936" y="2697480"/>
          <a:ext cx="7882128" cy="1737360"/>
        </p:xfrm>
        <a:graphic>
          <a:graphicData uri="http://schemas.openxmlformats.org/drawingml/2006/table">
            <a:tbl>
              <a:tblPr firstRow="0" bandRow="0">
                <a:tableStyleId>{5940675A-B579-460E-94D1-54222C63F5DA}</a:tableStyleId>
              </a:tblPr>
              <a:tblGrid>
                <a:gridCol w="3291840"/>
                <a:gridCol w="4590288"/>
              </a:tblGrid>
              <a:tr h="347472">
                <a:tc>
                  <a:txBody>
                    <a:bodyPr wrap="square"/>
                    <a:lstStyle/>
                    <a:p>
                      <a:r>
                        <a:rPr sz="950" b="1">
                          <a:solidFill>
                            <a:srgbClr val="FFFFFF"/>
                          </a:solidFill>
                          <a:latin typeface="Open Sans"/>
                        </a:rPr>
                        <a:t>Before</a:t>
                      </a:r>
                    </a:p>
                  </a:txBody>
                  <a:tcPr marL="54864" marR="54864" marT="27432" marB="27432" anchor="ctr">
                    <a:solidFill>
                      <a:srgbClr val="1B3A5C"/>
                    </a:solidFill>
                  </a:tcPr>
                </a:tc>
                <a:tc>
                  <a:txBody>
                    <a:bodyPr wrap="square"/>
                    <a:lstStyle/>
                    <a:p>
                      <a:r>
                        <a:rPr sz="950" b="1">
                          <a:solidFill>
                            <a:srgbClr val="FFFFFF"/>
                          </a:solidFill>
                          <a:latin typeface="Open Sans"/>
                        </a:rPr>
                        <a:t>After</a:t>
                      </a:r>
                    </a:p>
                  </a:txBody>
                  <a:tcPr marL="54864" marR="54864" marT="27432" marB="27432" anchor="ctr">
                    <a:solidFill>
                      <a:srgbClr val="1B3A5C"/>
                    </a:solidFill>
                  </a:tcPr>
                </a:tc>
              </a:tr>
              <a:tr h="347472">
                <a:tc>
                  <a:txBody>
                    <a:bodyPr wrap="square"/>
                    <a:lstStyle/>
                    <a:p>
                      <a:r>
                        <a:rPr sz="950" b="0">
                          <a:solidFill>
                            <a:srgbClr val="1B3A5C"/>
                          </a:solidFill>
                          <a:latin typeface="Open Sans"/>
                        </a:rPr>
                        <a:t>flight july 14/DJI_20250714101502_0001_D.JPG</a:t>
                      </a:r>
                    </a:p>
                  </a:txBody>
                  <a:tcPr marL="54864" marR="54864" marT="27432" marB="27432" anchor="ctr">
                    <a:solidFill>
                      <a:srgbClr val="FFFFFF"/>
                    </a:solidFill>
                  </a:tcPr>
                </a:tc>
                <a:tc>
                  <a:txBody>
                    <a:bodyPr wrap="square"/>
                    <a:lstStyle/>
                    <a:p>
                      <a:r>
                        <a:rPr sz="950" b="0">
                          <a:solidFill>
                            <a:srgbClr val="6E6259"/>
                          </a:solidFill>
                          <a:latin typeface="Open Sans"/>
                        </a:rPr>
                        <a:t>02_raw/01_uav_rgb/01_2025-07-14/DJI_20250714101502_0001_D.jpg</a:t>
                      </a:r>
                    </a:p>
                  </a:txBody>
                  <a:tcPr marL="54864" marR="54864" marT="27432" marB="27432" anchor="ctr">
                    <a:solidFill>
                      <a:srgbClr val="FFFFFF"/>
                    </a:solidFill>
                  </a:tcPr>
                </a:tc>
              </a:tr>
              <a:tr h="347472">
                <a:tc>
                  <a:txBody>
                    <a:bodyPr wrap="square"/>
                    <a:lstStyle/>
                    <a:p>
                      <a:r>
                        <a:rPr sz="950" b="0">
                          <a:solidFill>
                            <a:srgbClr val="1B3A5C"/>
                          </a:solidFill>
                          <a:latin typeface="Open Sans"/>
                        </a:rPr>
                        <a:t>lidar/lidar_aug2_v3_REAL (1).laz</a:t>
                      </a:r>
                    </a:p>
                  </a:txBody>
                  <a:tcPr marL="54864" marR="54864" marT="27432" marB="27432" anchor="ctr">
                    <a:solidFill>
                      <a:srgbClr val="F4F6F8"/>
                    </a:solidFill>
                  </a:tcPr>
                </a:tc>
                <a:tc>
                  <a:txBody>
                    <a:bodyPr wrap="square"/>
                    <a:lstStyle/>
                    <a:p>
                      <a:r>
                        <a:rPr sz="950" b="0">
                          <a:solidFill>
                            <a:srgbClr val="6E6259"/>
                          </a:solidFill>
                          <a:latin typeface="Open Sans"/>
                        </a:rPr>
                        <a:t>99_review/duplicates/…/lidar_aug2_v3.laz</a:t>
                      </a:r>
                    </a:p>
                  </a:txBody>
                  <a:tcPr marL="54864" marR="54864" marT="27432" marB="27432" anchor="ctr">
                    <a:solidFill>
                      <a:srgbClr val="F4F6F8"/>
                    </a:solidFill>
                  </a:tcPr>
                </a:tc>
              </a:tr>
              <a:tr h="347472">
                <a:tc>
                  <a:txBody>
                    <a:bodyPr wrap="square"/>
                    <a:lstStyle/>
                    <a:p>
                      <a:r>
                        <a:rPr sz="950" b="0">
                          <a:solidFill>
                            <a:srgbClr val="1B3A5C"/>
                          </a:solidFill>
                          <a:latin typeface="Open Sans"/>
                        </a:rPr>
                        <a:t>misc/New folder/IMG_4521.HEIC</a:t>
                      </a:r>
                    </a:p>
                  </a:txBody>
                  <a:tcPr marL="54864" marR="54864" marT="27432" marB="27432" anchor="ctr">
                    <a:solidFill>
                      <a:srgbClr val="FFFFFF"/>
                    </a:solidFill>
                  </a:tcPr>
                </a:tc>
                <a:tc>
                  <a:txBody>
                    <a:bodyPr wrap="square"/>
                    <a:lstStyle/>
                    <a:p>
                      <a:r>
                        <a:rPr sz="950" b="0">
                          <a:solidFill>
                            <a:srgbClr val="6E6259"/>
                          </a:solidFill>
                          <a:latin typeface="Open Sans"/>
                        </a:rPr>
                        <a:t>02_raw/06_photos/01_2025-07-14/s01_20250714_aea_photos_0001.heic</a:t>
                      </a:r>
                    </a:p>
                  </a:txBody>
                  <a:tcPr marL="54864" marR="54864" marT="27432" marB="27432" anchor="ctr">
                    <a:solidFill>
                      <a:srgbClr val="FFFFFF"/>
                    </a:solidFill>
                  </a:tcPr>
                </a:tc>
              </a:tr>
              <a:tr h="347472">
                <a:tc>
                  <a:txBody>
                    <a:bodyPr wrap="square"/>
                    <a:lstStyle/>
                    <a:p>
                      <a:r>
                        <a:rPr sz="950" b="0">
                          <a:solidFill>
                            <a:srgbClr val="1B3A5C"/>
                          </a:solidFill>
                          <a:latin typeface="Open Sans"/>
                        </a:rPr>
                        <a:t>notes/plot map FINAL.xlsx</a:t>
                      </a:r>
                    </a:p>
                  </a:txBody>
                  <a:tcPr marL="54864" marR="54864" marT="27432" marB="27432" anchor="ctr">
                    <a:solidFill>
                      <a:srgbClr val="F4F6F8"/>
                    </a:solidFill>
                  </a:tcPr>
                </a:tc>
                <a:tc>
                  <a:txBody>
                    <a:bodyPr wrap="square"/>
                    <a:lstStyle/>
                    <a:p>
                      <a:r>
                        <a:rPr sz="950" b="0">
                          <a:solidFill>
                            <a:srgbClr val="6E6259"/>
                          </a:solidFill>
                          <a:latin typeface="Open Sans"/>
                        </a:rPr>
                        <a:t>01_metadata/01_field_design/plot_map.xlsx</a:t>
                      </a:r>
                    </a:p>
                  </a:txBody>
                  <a:tcPr marL="54864" marR="54864" marT="27432" marB="27432" anchor="ctr">
                    <a:solidFill>
                      <a:srgbClr val="F4F6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0936" y="365760"/>
            <a:ext cx="7882127" cy="603504"/>
          </a:xfrm>
          <a:prstGeom prst="rect">
            <a:avLst/>
          </a:prstGeom>
          <a:noFill/>
        </p:spPr>
        <p:txBody>
          <a:bodyPr wrap="square" anchor="b" lIns="36576" rIns="36576" tIns="18288" bIns="18288">
            <a:spAutoFit/>
          </a:bodyPr>
          <a:lstStyle/>
          <a:p>
            <a:r>
              <a:rPr sz="1950" b="1">
                <a:solidFill>
                  <a:srgbClr val="C8102E"/>
                </a:solidFill>
                <a:latin typeface="Merriweather"/>
              </a:rPr>
              <a:t>Rule 3: open formats, plus the context that must travel with them</a:t>
            </a:r>
          </a:p>
        </p:txBody>
      </p:sp>
      <p:cxnSp>
        <p:nvCxnSpPr>
          <p:cNvPr id="3" name="Connector 2"/>
          <p:cNvCxnSpPr/>
          <p:nvPr/>
        </p:nvCxnSpPr>
        <p:spPr>
          <a:xfrm>
            <a:off x="630936" y="1028700"/>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936" y="4846320"/>
            <a:ext cx="7882127" cy="228600"/>
          </a:xfrm>
          <a:prstGeom prst="rect">
            <a:avLst/>
          </a:prstGeom>
          <a:noFill/>
        </p:spPr>
        <p:txBody>
          <a:bodyPr wrap="square" anchor="t" lIns="36576" rIns="36576" tIns="18288" bIns="18288">
            <a:spAutoFit/>
          </a:bodyPr>
          <a:lstStyle/>
          <a:p>
            <a:r>
              <a:rPr sz="800" b="0">
                <a:solidFill>
                  <a:srgbClr val="8C97A6"/>
                </a:solidFill>
                <a:latin typeface="Open Sans"/>
              </a:rPr>
              <a:t>FAIR Data Curation  ·  ISU TrAC</a:t>
            </a:r>
          </a:p>
        </p:txBody>
      </p:sp>
      <p:sp>
        <p:nvSpPr>
          <p:cNvPr id="5" name="TextBox 4"/>
          <p:cNvSpPr txBox="1"/>
          <p:nvPr/>
        </p:nvSpPr>
        <p:spPr>
          <a:xfrm>
            <a:off x="7863840" y="4846320"/>
            <a:ext cx="649224" cy="228600"/>
          </a:xfrm>
          <a:prstGeom prst="rect">
            <a:avLst/>
          </a:prstGeom>
          <a:noFill/>
        </p:spPr>
        <p:txBody>
          <a:bodyPr wrap="square" anchor="t" lIns="36576" rIns="36576" tIns="18288" bIns="18288">
            <a:spAutoFit/>
          </a:bodyPr>
          <a:lstStyle/>
          <a:p>
            <a:pPr algn="r"/>
            <a:r>
              <a:rPr sz="800" b="0">
                <a:solidFill>
                  <a:srgbClr val="8C97A6"/>
                </a:solidFill>
                <a:latin typeface="Open Sans"/>
              </a:rPr>
              <a:t>10</a:t>
            </a:r>
          </a:p>
        </p:txBody>
      </p:sp>
      <p:graphicFrame>
        <p:nvGraphicFramePr>
          <p:cNvPr id="6" name="Table 5"/>
          <p:cNvGraphicFramePr>
            <a:graphicFrameLocks noGrp="1"/>
          </p:cNvGraphicFramePr>
          <p:nvPr/>
        </p:nvGraphicFramePr>
        <p:xfrm>
          <a:off x="630936" y="1261872"/>
          <a:ext cx="7882128" cy="2304288"/>
        </p:xfrm>
        <a:graphic>
          <a:graphicData uri="http://schemas.openxmlformats.org/drawingml/2006/table">
            <a:tbl>
              <a:tblPr firstRow="0" bandRow="0">
                <a:tableStyleId>{5940675A-B579-460E-94D1-54222C63F5DA}</a:tableStyleId>
              </a:tblPr>
              <a:tblGrid>
                <a:gridCol w="1600200"/>
                <a:gridCol w="1920240"/>
                <a:gridCol w="4361688"/>
              </a:tblGrid>
              <a:tr h="329184">
                <a:tc>
                  <a:txBody>
                    <a:bodyPr wrap="square"/>
                    <a:lstStyle/>
                    <a:p>
                      <a:r>
                        <a:rPr sz="1050" b="1">
                          <a:solidFill>
                            <a:srgbClr val="FFFFFF"/>
                          </a:solidFill>
                          <a:latin typeface="Open Sans"/>
                        </a:rPr>
                        <a:t>Data</a:t>
                      </a:r>
                    </a:p>
                  </a:txBody>
                  <a:tcPr marL="54864" marR="54864" marT="27432" marB="27432" anchor="ctr">
                    <a:solidFill>
                      <a:srgbClr val="1B3A5C"/>
                    </a:solidFill>
                  </a:tcPr>
                </a:tc>
                <a:tc>
                  <a:txBody>
                    <a:bodyPr wrap="square"/>
                    <a:lstStyle/>
                    <a:p>
                      <a:r>
                        <a:rPr sz="1050" b="1">
                          <a:solidFill>
                            <a:srgbClr val="FFFFFF"/>
                          </a:solidFill>
                          <a:latin typeface="Open Sans"/>
                        </a:rPr>
                        <a:t>Format</a:t>
                      </a:r>
                    </a:p>
                  </a:txBody>
                  <a:tcPr marL="54864" marR="54864" marT="27432" marB="27432" anchor="ctr">
                    <a:solidFill>
                      <a:srgbClr val="1B3A5C"/>
                    </a:solidFill>
                  </a:tcPr>
                </a:tc>
                <a:tc>
                  <a:txBody>
                    <a:bodyPr wrap="square"/>
                    <a:lstStyle/>
                    <a:p>
                      <a:r>
                        <a:rPr sz="1050" b="1">
                          <a:solidFill>
                            <a:srgbClr val="FFFFFF"/>
                          </a:solidFill>
                          <a:latin typeface="Open Sans"/>
                        </a:rPr>
                        <a:t>Must travel with it</a:t>
                      </a:r>
                    </a:p>
                  </a:txBody>
                  <a:tcPr marL="54864" marR="54864" marT="27432" marB="27432" anchor="ctr">
                    <a:solidFill>
                      <a:srgbClr val="1B3A5C"/>
                    </a:solidFill>
                  </a:tcPr>
                </a:tc>
              </a:tr>
              <a:tr h="329184">
                <a:tc>
                  <a:txBody>
                    <a:bodyPr wrap="square"/>
                    <a:lstStyle/>
                    <a:p>
                      <a:r>
                        <a:rPr sz="1050" b="0">
                          <a:solidFill>
                            <a:srgbClr val="1B3A5C"/>
                          </a:solidFill>
                          <a:latin typeface="Open Sans"/>
                        </a:rPr>
                        <a:t>UAV images</a:t>
                      </a:r>
                    </a:p>
                  </a:txBody>
                  <a:tcPr marL="54864" marR="54864" marT="27432" marB="27432" anchor="ctr">
                    <a:solidFill>
                      <a:srgbClr val="FFFFFF"/>
                    </a:solidFill>
                  </a:tcPr>
                </a:tc>
                <a:tc>
                  <a:txBody>
                    <a:bodyPr wrap="square"/>
                    <a:lstStyle/>
                    <a:p>
                      <a:r>
                        <a:rPr sz="1050" b="0">
                          <a:solidFill>
                            <a:srgbClr val="6E6259"/>
                          </a:solidFill>
                          <a:latin typeface="Open Sans"/>
                        </a:rPr>
                        <a:t>JPG / TIFF / DNG</a:t>
                      </a:r>
                    </a:p>
                  </a:txBody>
                  <a:tcPr marL="54864" marR="54864" marT="27432" marB="27432" anchor="ctr">
                    <a:solidFill>
                      <a:srgbClr val="FFFFFF"/>
                    </a:solidFill>
                  </a:tcPr>
                </a:tc>
                <a:tc>
                  <a:txBody>
                    <a:bodyPr wrap="square"/>
                    <a:lstStyle/>
                    <a:p>
                      <a:r>
                        <a:rPr sz="1050" b="0">
                          <a:solidFill>
                            <a:srgbClr val="6E6259"/>
                          </a:solidFill>
                          <a:latin typeface="Open Sans"/>
                        </a:rPr>
                        <a:t>EXIF + GPS kept, flight and RTK logs, calibration panel</a:t>
                      </a:r>
                    </a:p>
                  </a:txBody>
                  <a:tcPr marL="54864" marR="54864" marT="27432" marB="27432" anchor="ctr">
                    <a:solidFill>
                      <a:srgbClr val="FFFFFF"/>
                    </a:solidFill>
                  </a:tcPr>
                </a:tc>
              </a:tr>
              <a:tr h="329184">
                <a:tc>
                  <a:txBody>
                    <a:bodyPr wrap="square"/>
                    <a:lstStyle/>
                    <a:p>
                      <a:r>
                        <a:rPr sz="1050" b="0">
                          <a:solidFill>
                            <a:srgbClr val="1B3A5C"/>
                          </a:solidFill>
                          <a:latin typeface="Open Sans"/>
                        </a:rPr>
                        <a:t>LiDAR</a:t>
                      </a:r>
                    </a:p>
                  </a:txBody>
                  <a:tcPr marL="54864" marR="54864" marT="27432" marB="27432" anchor="ctr">
                    <a:solidFill>
                      <a:srgbClr val="F4F6F8"/>
                    </a:solidFill>
                  </a:tcPr>
                </a:tc>
                <a:tc>
                  <a:txBody>
                    <a:bodyPr wrap="square"/>
                    <a:lstStyle/>
                    <a:p>
                      <a:r>
                        <a:rPr sz="1050" b="0">
                          <a:solidFill>
                            <a:srgbClr val="6E6259"/>
                          </a:solidFill>
                          <a:latin typeface="Open Sans"/>
                        </a:rPr>
                        <a:t>LAS / LAZ</a:t>
                      </a:r>
                    </a:p>
                  </a:txBody>
                  <a:tcPr marL="54864" marR="54864" marT="27432" marB="27432" anchor="ctr">
                    <a:solidFill>
                      <a:srgbClr val="F4F6F8"/>
                    </a:solidFill>
                  </a:tcPr>
                </a:tc>
                <a:tc>
                  <a:txBody>
                    <a:bodyPr wrap="square"/>
                    <a:lstStyle/>
                    <a:p>
                      <a:r>
                        <a:rPr sz="1050" b="0">
                          <a:solidFill>
                            <a:srgbClr val="6E6259"/>
                          </a:solidFill>
                          <a:latin typeface="Open Sans"/>
                        </a:rPr>
                        <a:t>CRS (EPSG code) in the header, processing software and version</a:t>
                      </a:r>
                    </a:p>
                  </a:txBody>
                  <a:tcPr marL="54864" marR="54864" marT="27432" marB="27432" anchor="ctr">
                    <a:solidFill>
                      <a:srgbClr val="F4F6F8"/>
                    </a:solidFill>
                  </a:tcPr>
                </a:tc>
              </a:tr>
              <a:tr h="329184">
                <a:tc>
                  <a:txBody>
                    <a:bodyPr wrap="square"/>
                    <a:lstStyle/>
                    <a:p>
                      <a:r>
                        <a:rPr sz="1050" b="0">
                          <a:solidFill>
                            <a:srgbClr val="1B3A5C"/>
                          </a:solidFill>
                          <a:latin typeface="Open Sans"/>
                        </a:rPr>
                        <a:t>Hyperspectral</a:t>
                      </a:r>
                    </a:p>
                  </a:txBody>
                  <a:tcPr marL="54864" marR="54864" marT="27432" marB="27432" anchor="ctr">
                    <a:solidFill>
                      <a:srgbClr val="FFFFFF"/>
                    </a:solidFill>
                  </a:tcPr>
                </a:tc>
                <a:tc>
                  <a:txBody>
                    <a:bodyPr wrap="square"/>
                    <a:lstStyle/>
                    <a:p>
                      <a:r>
                        <a:rPr sz="1050" b="0">
                          <a:solidFill>
                            <a:srgbClr val="6E6259"/>
                          </a:solidFill>
                          <a:latin typeface="Open Sans"/>
                        </a:rPr>
                        <a:t>ENVI .hdr + .bil</a:t>
                      </a:r>
                    </a:p>
                  </a:txBody>
                  <a:tcPr marL="54864" marR="54864" marT="27432" marB="27432" anchor="ctr">
                    <a:solidFill>
                      <a:srgbClr val="FFFFFF"/>
                    </a:solidFill>
                  </a:tcPr>
                </a:tc>
                <a:tc>
                  <a:txBody>
                    <a:bodyPr wrap="square"/>
                    <a:lstStyle/>
                    <a:p>
                      <a:r>
                        <a:rPr sz="1050" b="0">
                          <a:solidFill>
                            <a:srgbClr val="6E6259"/>
                          </a:solidFill>
                          <a:latin typeface="Open Sans"/>
                        </a:rPr>
                        <a:t>Wavelength list, white and dark references</a:t>
                      </a:r>
                    </a:p>
                  </a:txBody>
                  <a:tcPr marL="54864" marR="54864" marT="27432" marB="27432" anchor="ctr">
                    <a:solidFill>
                      <a:srgbClr val="FFFFFF"/>
                    </a:solidFill>
                  </a:tcPr>
                </a:tc>
              </a:tr>
              <a:tr h="329184">
                <a:tc>
                  <a:txBody>
                    <a:bodyPr wrap="square"/>
                    <a:lstStyle/>
                    <a:p>
                      <a:r>
                        <a:rPr sz="1050" b="0">
                          <a:solidFill>
                            <a:srgbClr val="1B3A5C"/>
                          </a:solidFill>
                          <a:latin typeface="Open Sans"/>
                        </a:rPr>
                        <a:t>3D (SfM / NeRF / 3DGS)</a:t>
                      </a:r>
                    </a:p>
                  </a:txBody>
                  <a:tcPr marL="54864" marR="54864" marT="27432" marB="27432" anchor="ctr">
                    <a:solidFill>
                      <a:srgbClr val="F4F6F8"/>
                    </a:solidFill>
                  </a:tcPr>
                </a:tc>
                <a:tc>
                  <a:txBody>
                    <a:bodyPr wrap="square"/>
                    <a:lstStyle/>
                    <a:p>
                      <a:r>
                        <a:rPr sz="1050" b="0">
                          <a:solidFill>
                            <a:srgbClr val="6E6259"/>
                          </a:solidFill>
                          <a:latin typeface="Open Sans"/>
                        </a:rPr>
                        <a:t>PLY + transforms.json</a:t>
                      </a:r>
                    </a:p>
                  </a:txBody>
                  <a:tcPr marL="54864" marR="54864" marT="27432" marB="27432" anchor="ctr">
                    <a:solidFill>
                      <a:srgbClr val="F4F6F8"/>
                    </a:solidFill>
                  </a:tcPr>
                </a:tc>
                <a:tc>
                  <a:txBody>
                    <a:bodyPr wrap="square"/>
                    <a:lstStyle/>
                    <a:p>
                      <a:r>
                        <a:rPr sz="1050" b="0">
                          <a:solidFill>
                            <a:srgbClr val="6E6259"/>
                          </a:solidFill>
                          <a:latin typeface="Open Sans"/>
                        </a:rPr>
                        <a:t>Camera poses, training settings, code commit</a:t>
                      </a:r>
                    </a:p>
                  </a:txBody>
                  <a:tcPr marL="54864" marR="54864" marT="27432" marB="27432" anchor="ctr">
                    <a:solidFill>
                      <a:srgbClr val="F4F6F8"/>
                    </a:solidFill>
                  </a:tcPr>
                </a:tc>
              </a:tr>
              <a:tr h="329184">
                <a:tc>
                  <a:txBody>
                    <a:bodyPr wrap="square"/>
                    <a:lstStyle/>
                    <a:p>
                      <a:r>
                        <a:rPr sz="1050" b="0">
                          <a:solidFill>
                            <a:srgbClr val="1B3A5C"/>
                          </a:solidFill>
                          <a:latin typeface="Open Sans"/>
                        </a:rPr>
                        <a:t>Genotypes</a:t>
                      </a:r>
                    </a:p>
                  </a:txBody>
                  <a:tcPr marL="54864" marR="54864" marT="27432" marB="27432" anchor="ctr">
                    <a:solidFill>
                      <a:srgbClr val="FFFFFF"/>
                    </a:solidFill>
                  </a:tcPr>
                </a:tc>
                <a:tc>
                  <a:txBody>
                    <a:bodyPr wrap="square"/>
                    <a:lstStyle/>
                    <a:p>
                      <a:r>
                        <a:rPr sz="1050" b="0">
                          <a:solidFill>
                            <a:srgbClr val="6E6259"/>
                          </a:solidFill>
                          <a:latin typeface="Open Sans"/>
                        </a:rPr>
                        <a:t>VCF (.vcf.gz)</a:t>
                      </a:r>
                    </a:p>
                  </a:txBody>
                  <a:tcPr marL="54864" marR="54864" marT="27432" marB="27432" anchor="ctr">
                    <a:solidFill>
                      <a:srgbClr val="FFFFFF"/>
                    </a:solidFill>
                  </a:tcPr>
                </a:tc>
                <a:tc>
                  <a:txBody>
                    <a:bodyPr wrap="square"/>
                    <a:lstStyle/>
                    <a:p>
                      <a:r>
                        <a:rPr sz="1050" b="0">
                          <a:solidFill>
                            <a:srgbClr val="6E6259"/>
                          </a:solidFill>
                          <a:latin typeface="Open Sans"/>
                        </a:rPr>
                        <a:t>Reference genome version (e.g. B73 v5)</a:t>
                      </a:r>
                    </a:p>
                  </a:txBody>
                  <a:tcPr marL="54864" marR="54864" marT="27432" marB="27432" anchor="ctr">
                    <a:solidFill>
                      <a:srgbClr val="FFFFFF"/>
                    </a:solidFill>
                  </a:tcPr>
                </a:tc>
              </a:tr>
              <a:tr h="329184">
                <a:tc>
                  <a:txBody>
                    <a:bodyPr wrap="square"/>
                    <a:lstStyle/>
                    <a:p>
                      <a:r>
                        <a:rPr sz="1050" b="0">
                          <a:solidFill>
                            <a:srgbClr val="1B3A5C"/>
                          </a:solidFill>
                          <a:latin typeface="Open Sans"/>
                        </a:rPr>
                        <a:t>Traits</a:t>
                      </a:r>
                    </a:p>
                  </a:txBody>
                  <a:tcPr marL="54864" marR="54864" marT="27432" marB="27432" anchor="ctr">
                    <a:solidFill>
                      <a:srgbClr val="F4F6F8"/>
                    </a:solidFill>
                  </a:tcPr>
                </a:tc>
                <a:tc>
                  <a:txBody>
                    <a:bodyPr wrap="square"/>
                    <a:lstStyle/>
                    <a:p>
                      <a:r>
                        <a:rPr sz="1050" b="0">
                          <a:solidFill>
                            <a:srgbClr val="6E6259"/>
                          </a:solidFill>
                          <a:latin typeface="Open Sans"/>
                        </a:rPr>
                        <a:t>CSV / Parquet</a:t>
                      </a:r>
                    </a:p>
                  </a:txBody>
                  <a:tcPr marL="54864" marR="54864" marT="27432" marB="27432" anchor="ctr">
                    <a:solidFill>
                      <a:srgbClr val="F4F6F8"/>
                    </a:solidFill>
                  </a:tcPr>
                </a:tc>
                <a:tc>
                  <a:txBody>
                    <a:bodyPr wrap="square"/>
                    <a:lstStyle/>
                    <a:p>
                      <a:r>
                        <a:rPr sz="1050" b="0">
                          <a:solidFill>
                            <a:srgbClr val="6E6259"/>
                          </a:solidFill>
                          <a:latin typeface="Open Sans"/>
                        </a:rPr>
                        <a:t>Units and Crop Ontology trait IDs</a:t>
                      </a:r>
                    </a:p>
                  </a:txBody>
                  <a:tcPr marL="54864" marR="54864" marT="27432" marB="27432" anchor="ctr">
                    <a:solidFill>
                      <a:srgbClr val="F4F6F8"/>
                    </a:solidFill>
                  </a:tcPr>
                </a:tc>
              </a:tr>
            </a:tbl>
          </a:graphicData>
        </a:graphic>
      </p:graphicFrame>
      <p:sp>
        <p:nvSpPr>
          <p:cNvPr id="7" name="Rectangle 6"/>
          <p:cNvSpPr/>
          <p:nvPr/>
        </p:nvSpPr>
        <p:spPr>
          <a:xfrm>
            <a:off x="630936" y="3730752"/>
            <a:ext cx="2514600" cy="868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3803904"/>
            <a:ext cx="2295144" cy="758952"/>
          </a:xfrm>
          <a:prstGeom prst="rect">
            <a:avLst/>
          </a:prstGeom>
          <a:noFill/>
        </p:spPr>
        <p:txBody>
          <a:bodyPr wrap="square" anchor="t" lIns="36576" rIns="36576" tIns="18288" bIns="18288">
            <a:spAutoFit/>
          </a:bodyPr>
          <a:lstStyle/>
          <a:p>
            <a:pPr>
              <a:spcAft>
                <a:spcPts val="300"/>
              </a:spcAft>
            </a:pPr>
            <a:r>
              <a:rPr sz="1200" b="1">
                <a:solidFill>
                  <a:srgbClr val="1B3A5C"/>
                </a:solidFill>
                <a:latin typeface="Open Sans"/>
              </a:rPr>
              <a:t>MIAPPE 1.1</a:t>
            </a:r>
          </a:p>
          <a:p>
            <a:r>
              <a:rPr sz="1050" b="0">
                <a:solidFill>
                  <a:srgbClr val="6E6259"/>
                </a:solidFill>
                <a:latin typeface="Open Sans"/>
              </a:rPr>
              <a:t>Describes the experiment: site, design, plants, traits.</a:t>
            </a:r>
          </a:p>
        </p:txBody>
      </p:sp>
      <p:sp>
        <p:nvSpPr>
          <p:cNvPr id="9" name="Rectangle 8"/>
          <p:cNvSpPr/>
          <p:nvPr/>
        </p:nvSpPr>
        <p:spPr>
          <a:xfrm>
            <a:off x="3314700" y="3730752"/>
            <a:ext cx="2514600" cy="86868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4428" y="3803904"/>
            <a:ext cx="2295144" cy="758952"/>
          </a:xfrm>
          <a:prstGeom prst="rect">
            <a:avLst/>
          </a:prstGeom>
          <a:noFill/>
        </p:spPr>
        <p:txBody>
          <a:bodyPr wrap="square" anchor="t" lIns="36576" rIns="36576" tIns="18288" bIns="18288">
            <a:spAutoFit/>
          </a:bodyPr>
          <a:lstStyle/>
          <a:p>
            <a:pPr>
              <a:spcAft>
                <a:spcPts val="300"/>
              </a:spcAft>
            </a:pPr>
            <a:r>
              <a:rPr sz="1200" b="1">
                <a:solidFill>
                  <a:srgbClr val="1B3A5C"/>
                </a:solidFill>
                <a:latin typeface="Open Sans"/>
              </a:rPr>
              <a:t>Croissant</a:t>
            </a:r>
          </a:p>
          <a:p>
            <a:r>
              <a:rPr sz="1050" b="0">
                <a:solidFill>
                  <a:srgbClr val="6E6259"/>
                </a:solidFill>
                <a:latin typeface="Open Sans"/>
              </a:rPr>
              <a:t>Describes an ML-ready dataset in JSON-LD.</a:t>
            </a:r>
          </a:p>
        </p:txBody>
      </p:sp>
      <p:sp>
        <p:nvSpPr>
          <p:cNvPr id="11" name="Rectangle 10"/>
          <p:cNvSpPr/>
          <p:nvPr/>
        </p:nvSpPr>
        <p:spPr>
          <a:xfrm>
            <a:off x="5998464" y="3730752"/>
            <a:ext cx="2514600" cy="868680"/>
          </a:xfrm>
          <a:prstGeom prst="rect">
            <a:avLst/>
          </a:prstGeom>
          <a:solidFill>
            <a:srgbClr val="D4E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08192" y="3803904"/>
            <a:ext cx="2295144" cy="758952"/>
          </a:xfrm>
          <a:prstGeom prst="rect">
            <a:avLst/>
          </a:prstGeom>
          <a:noFill/>
        </p:spPr>
        <p:txBody>
          <a:bodyPr wrap="square" anchor="t" lIns="36576" rIns="36576" tIns="18288" bIns="18288">
            <a:spAutoFit/>
          </a:bodyPr>
          <a:lstStyle/>
          <a:p>
            <a:pPr>
              <a:spcAft>
                <a:spcPts val="300"/>
              </a:spcAft>
            </a:pPr>
            <a:r>
              <a:rPr sz="1200" b="1">
                <a:solidFill>
                  <a:srgbClr val="1B3A5C"/>
                </a:solidFill>
                <a:latin typeface="Open Sans"/>
              </a:rPr>
              <a:t>Crop Ontology</a:t>
            </a:r>
          </a:p>
          <a:p>
            <a:r>
              <a:rPr sz="1050" b="0">
                <a:solidFill>
                  <a:srgbClr val="6E6259"/>
                </a:solidFill>
                <a:latin typeface="Open Sans"/>
              </a:rPr>
              <a:t>Shared IDs so "plant height" means one thing.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0936" y="365760"/>
            <a:ext cx="7882127" cy="603504"/>
          </a:xfrm>
          <a:prstGeom prst="rect">
            <a:avLst/>
          </a:prstGeom>
          <a:noFill/>
        </p:spPr>
        <p:txBody>
          <a:bodyPr wrap="square" anchor="b" lIns="36576" rIns="36576" tIns="18288" bIns="18288">
            <a:spAutoFit/>
          </a:bodyPr>
          <a:lstStyle/>
          <a:p>
            <a:r>
              <a:rPr sz="2200" b="1">
                <a:solidFill>
                  <a:srgbClr val="C8102E"/>
                </a:solidFill>
                <a:latin typeface="Merriweather"/>
              </a:rPr>
              <a:t>Demo: FAIR Folder Curator reads the messy folder</a:t>
            </a:r>
          </a:p>
        </p:txBody>
      </p:sp>
      <p:cxnSp>
        <p:nvCxnSpPr>
          <p:cNvPr id="3" name="Connector 2"/>
          <p:cNvCxnSpPr/>
          <p:nvPr/>
        </p:nvCxnSpPr>
        <p:spPr>
          <a:xfrm>
            <a:off x="630936" y="1028700"/>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936" y="4846320"/>
            <a:ext cx="7882127" cy="228600"/>
          </a:xfrm>
          <a:prstGeom prst="rect">
            <a:avLst/>
          </a:prstGeom>
          <a:noFill/>
        </p:spPr>
        <p:txBody>
          <a:bodyPr wrap="square" anchor="t" lIns="36576" rIns="36576" tIns="18288" bIns="18288">
            <a:spAutoFit/>
          </a:bodyPr>
          <a:lstStyle/>
          <a:p>
            <a:r>
              <a:rPr sz="800" b="0">
                <a:solidFill>
                  <a:srgbClr val="8C97A6"/>
                </a:solidFill>
                <a:latin typeface="Open Sans"/>
              </a:rPr>
              <a:t>FAIR Data Curation  ·  ISU TrAC</a:t>
            </a:r>
          </a:p>
        </p:txBody>
      </p:sp>
      <p:sp>
        <p:nvSpPr>
          <p:cNvPr id="5" name="TextBox 4"/>
          <p:cNvSpPr txBox="1"/>
          <p:nvPr/>
        </p:nvSpPr>
        <p:spPr>
          <a:xfrm>
            <a:off x="7863840" y="4846320"/>
            <a:ext cx="649224" cy="228600"/>
          </a:xfrm>
          <a:prstGeom prst="rect">
            <a:avLst/>
          </a:prstGeom>
          <a:noFill/>
        </p:spPr>
        <p:txBody>
          <a:bodyPr wrap="square" anchor="t" lIns="36576" rIns="36576" tIns="18288" bIns="18288">
            <a:spAutoFit/>
          </a:bodyPr>
          <a:lstStyle/>
          <a:p>
            <a:pPr algn="r"/>
            <a:r>
              <a:rPr sz="800" b="0">
                <a:solidFill>
                  <a:srgbClr val="8C97A6"/>
                </a:solidFill>
                <a:latin typeface="Open Sans"/>
              </a:rPr>
              <a:t>11</a:t>
            </a:r>
          </a:p>
        </p:txBody>
      </p:sp>
      <p:pic>
        <p:nvPicPr>
          <p:cNvPr id="6" name="Picture 5" descr="app_step1.png"/>
          <p:cNvPicPr>
            <a:picLocks noChangeAspect="1"/>
          </p:cNvPicPr>
          <p:nvPr/>
        </p:nvPicPr>
        <p:blipFill>
          <a:blip r:embed="rId2"/>
          <a:stretch>
            <a:fillRect/>
          </a:stretch>
        </p:blipFill>
        <p:spPr>
          <a:xfrm>
            <a:off x="630936" y="1234440"/>
            <a:ext cx="4315968" cy="2697480"/>
          </a:xfrm>
          <a:prstGeom prst="rect">
            <a:avLst/>
          </a:prstGeom>
          <a:ln w="9525">
            <a:solidFill>
              <a:srgbClr val="C9CFD6"/>
            </a:solidFill>
          </a:ln>
        </p:spPr>
      </p:pic>
      <p:pic>
        <p:nvPicPr>
          <p:cNvPr id="7" name="Picture 6" descr="app_meta.png"/>
          <p:cNvPicPr>
            <a:picLocks noChangeAspect="1"/>
          </p:cNvPicPr>
          <p:nvPr/>
        </p:nvPicPr>
        <p:blipFill>
          <a:blip r:embed="rId3"/>
          <a:stretch>
            <a:fillRect/>
          </a:stretch>
        </p:blipFill>
        <p:spPr>
          <a:xfrm>
            <a:off x="5552054" y="1234440"/>
            <a:ext cx="2959639" cy="2697480"/>
          </a:xfrm>
          <a:prstGeom prst="rect">
            <a:avLst/>
          </a:prstGeom>
          <a:ln w="9525">
            <a:solidFill>
              <a:srgbClr val="C9CFD6"/>
            </a:solidFill>
          </a:ln>
        </p:spPr>
      </p:pic>
      <p:sp>
        <p:nvSpPr>
          <p:cNvPr id="8" name="TextBox 7"/>
          <p:cNvSpPr txBox="1"/>
          <p:nvPr/>
        </p:nvSpPr>
        <p:spPr>
          <a:xfrm>
            <a:off x="630936" y="4041648"/>
            <a:ext cx="7882127" cy="640080"/>
          </a:xfrm>
          <a:prstGeom prst="rect">
            <a:avLst/>
          </a:prstGeom>
          <a:noFill/>
        </p:spPr>
        <p:txBody>
          <a:bodyPr wrap="square" anchor="t" lIns="36576" rIns="36576" tIns="18288" bIns="18288">
            <a:spAutoFit/>
          </a:bodyPr>
          <a:lstStyle/>
          <a:p>
            <a:pPr algn="l">
              <a:spcAft>
                <a:spcPts val="402"/>
              </a:spcAft>
            </a:pPr>
            <a:r>
              <a:rPr sz="1150" b="0">
                <a:solidFill>
                  <a:srgbClr val="6E6259"/>
                </a:solidFill>
                <a:latin typeface="Open Sans"/>
              </a:rPr>
              <a:t>Drop a folder in. It reads names, sizes, dates, and file headers (GPS, capture time, LiDAR CRS, band lists) </a:t>
            </a:r>
            <a:r>
              <a:rPr sz="1150" b="1">
                <a:solidFill>
                  <a:srgbClr val="222222"/>
                </a:solidFill>
                <a:latin typeface="Open Sans"/>
              </a:rPr>
              <a:t>on your computer; nothing is uploaded</a:t>
            </a:r>
            <a:r>
              <a:rPr sz="1150" b="0">
                <a:solidFill>
                  <a:srgbClr val="6E6259"/>
                </a:solidFill>
                <a:latin typeface="Open Sans"/>
              </a:rPr>
              <a:t>. A data-curator agent then asks 3–7 questions about what it cannot see.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0936" y="365760"/>
            <a:ext cx="7882127" cy="603504"/>
          </a:xfrm>
          <a:prstGeom prst="rect">
            <a:avLst/>
          </a:prstGeom>
          <a:noFill/>
        </p:spPr>
        <p:txBody>
          <a:bodyPr wrap="square" anchor="b" lIns="36576" rIns="36576" tIns="18288" bIns="18288">
            <a:spAutoFit/>
          </a:bodyPr>
          <a:lstStyle/>
          <a:p>
            <a:r>
              <a:rPr sz="1950" b="1">
                <a:solidFill>
                  <a:srgbClr val="C8102E"/>
                </a:solidFill>
                <a:latin typeface="Merriweather"/>
              </a:rPr>
              <a:t>Demo: it plans the layout and hands you a safe script</a:t>
            </a:r>
          </a:p>
        </p:txBody>
      </p:sp>
      <p:cxnSp>
        <p:nvCxnSpPr>
          <p:cNvPr id="3" name="Connector 2"/>
          <p:cNvCxnSpPr/>
          <p:nvPr/>
        </p:nvCxnSpPr>
        <p:spPr>
          <a:xfrm>
            <a:off x="630936" y="1028700"/>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936" y="4846320"/>
            <a:ext cx="7882127" cy="228600"/>
          </a:xfrm>
          <a:prstGeom prst="rect">
            <a:avLst/>
          </a:prstGeom>
          <a:noFill/>
        </p:spPr>
        <p:txBody>
          <a:bodyPr wrap="square" anchor="t" lIns="36576" rIns="36576" tIns="18288" bIns="18288">
            <a:spAutoFit/>
          </a:bodyPr>
          <a:lstStyle/>
          <a:p>
            <a:r>
              <a:rPr sz="800" b="0">
                <a:solidFill>
                  <a:srgbClr val="8C97A6"/>
                </a:solidFill>
                <a:latin typeface="Open Sans"/>
              </a:rPr>
              <a:t>FAIR Data Curation  ·  ISU TrAC</a:t>
            </a:r>
          </a:p>
        </p:txBody>
      </p:sp>
      <p:sp>
        <p:nvSpPr>
          <p:cNvPr id="5" name="TextBox 4"/>
          <p:cNvSpPr txBox="1"/>
          <p:nvPr/>
        </p:nvSpPr>
        <p:spPr>
          <a:xfrm>
            <a:off x="7863840" y="4846320"/>
            <a:ext cx="649224" cy="228600"/>
          </a:xfrm>
          <a:prstGeom prst="rect">
            <a:avLst/>
          </a:prstGeom>
          <a:noFill/>
        </p:spPr>
        <p:txBody>
          <a:bodyPr wrap="square" anchor="t" lIns="36576" rIns="36576" tIns="18288" bIns="18288">
            <a:spAutoFit/>
          </a:bodyPr>
          <a:lstStyle/>
          <a:p>
            <a:pPr algn="r"/>
            <a:r>
              <a:rPr sz="800" b="0">
                <a:solidFill>
                  <a:srgbClr val="8C97A6"/>
                </a:solidFill>
                <a:latin typeface="Open Sans"/>
              </a:rPr>
              <a:t>12</a:t>
            </a:r>
          </a:p>
        </p:txBody>
      </p:sp>
      <p:pic>
        <p:nvPicPr>
          <p:cNvPr id="6" name="Picture 5" descr="app_tree.png"/>
          <p:cNvPicPr>
            <a:picLocks noChangeAspect="1"/>
          </p:cNvPicPr>
          <p:nvPr/>
        </p:nvPicPr>
        <p:blipFill>
          <a:blip r:embed="rId2"/>
          <a:stretch>
            <a:fillRect/>
          </a:stretch>
        </p:blipFill>
        <p:spPr>
          <a:xfrm>
            <a:off x="630936" y="1261872"/>
            <a:ext cx="3840480" cy="2202233"/>
          </a:xfrm>
          <a:prstGeom prst="rect">
            <a:avLst/>
          </a:prstGeom>
          <a:ln w="9525">
            <a:solidFill>
              <a:srgbClr val="C9CFD6"/>
            </a:solidFill>
          </a:ln>
        </p:spPr>
      </p:pic>
      <p:pic>
        <p:nvPicPr>
          <p:cNvPr id="7" name="Picture 6" descr="app_sessions.png"/>
          <p:cNvPicPr>
            <a:picLocks noChangeAspect="1"/>
          </p:cNvPicPr>
          <p:nvPr/>
        </p:nvPicPr>
        <p:blipFill>
          <a:blip r:embed="rId3"/>
          <a:stretch>
            <a:fillRect/>
          </a:stretch>
        </p:blipFill>
        <p:spPr>
          <a:xfrm>
            <a:off x="4663440" y="1261872"/>
            <a:ext cx="3849624" cy="1099251"/>
          </a:xfrm>
          <a:prstGeom prst="rect">
            <a:avLst/>
          </a:prstGeom>
          <a:ln w="9525">
            <a:solidFill>
              <a:srgbClr val="C9CFD6"/>
            </a:solidFill>
          </a:ln>
        </p:spPr>
      </p:pic>
      <p:sp>
        <p:nvSpPr>
          <p:cNvPr id="8" name="Rectangle 7"/>
          <p:cNvSpPr/>
          <p:nvPr/>
        </p:nvSpPr>
        <p:spPr>
          <a:xfrm>
            <a:off x="4663440" y="2514600"/>
            <a:ext cx="3849624" cy="1143000"/>
          </a:xfrm>
          <a:prstGeom prst="rect">
            <a:avLst/>
          </a:prstGeom>
          <a:solidFill>
            <a:srgbClr val="F4F6F8"/>
          </a:solidFill>
          <a:ln w="9525">
            <a:solidFill>
              <a:srgbClr val="DCE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79" y="2587752"/>
            <a:ext cx="3666744" cy="996696"/>
          </a:xfrm>
          <a:prstGeom prst="rect">
            <a:avLst/>
          </a:prstGeom>
          <a:noFill/>
        </p:spPr>
        <p:txBody>
          <a:bodyPr wrap="square" anchor="t" lIns="36576" rIns="36576" tIns="18288" bIns="18288">
            <a:spAutoFit/>
          </a:bodyPr>
          <a:lstStyle/>
          <a:p>
            <a:r>
              <a:rPr sz="900">
                <a:solidFill>
                  <a:srgbClr val="8C97A6"/>
                </a:solidFill>
                <a:latin typeface="Consolas"/>
              </a:rPr>
              <a:t># 1. preview: changes nothing</a:t>
            </a:r>
          </a:p>
          <a:p>
            <a:r>
              <a:rPr sz="900">
                <a:solidFill>
                  <a:srgbClr val="222222"/>
                </a:solidFill>
                <a:latin typeface="Consolas"/>
              </a:rPr>
              <a:t>python organize.py "messy" "clean"</a:t>
            </a:r>
          </a:p>
          <a:p>
            <a:r>
              <a:rPr sz="900">
                <a:solidFill>
                  <a:srgbClr val="8C97A6"/>
                </a:solidFill>
                <a:latin typeface="Consolas"/>
              </a:rPr>
              <a:t># 2. copy into the new layout</a:t>
            </a:r>
          </a:p>
          <a:p>
            <a:r>
              <a:rPr sz="900">
                <a:solidFill>
                  <a:srgbClr val="222222"/>
                </a:solidFill>
                <a:latin typeface="Consolas"/>
              </a:rPr>
              <a:t>python organize.py "messy" "clean" --apply</a:t>
            </a:r>
          </a:p>
          <a:p>
            <a:r>
              <a:rPr sz="900">
                <a:solidFill>
                  <a:srgbClr val="8C97A6"/>
                </a:solidFill>
                <a:latin typeface="Consolas"/>
              </a:rPr>
              <a:t># 3. changed your mind?</a:t>
            </a:r>
          </a:p>
          <a:p>
            <a:r>
              <a:rPr sz="900">
                <a:solidFill>
                  <a:srgbClr val="222222"/>
                </a:solidFill>
                <a:latin typeface="Consolas"/>
              </a:rPr>
              <a:t>python organize.py --undo clean/01_metadata/manifest.csv</a:t>
            </a:r>
          </a:p>
        </p:txBody>
      </p:sp>
      <p:sp>
        <p:nvSpPr>
          <p:cNvPr id="10" name="TextBox 9"/>
          <p:cNvSpPr txBox="1"/>
          <p:nvPr/>
        </p:nvSpPr>
        <p:spPr>
          <a:xfrm>
            <a:off x="4663440" y="3749039"/>
            <a:ext cx="3849624" cy="914400"/>
          </a:xfrm>
          <a:prstGeom prst="rect">
            <a:avLst/>
          </a:prstGeom>
          <a:noFill/>
        </p:spPr>
        <p:txBody>
          <a:bodyPr wrap="square" anchor="t" lIns="36576" rIns="36576" tIns="18288" bIns="18288">
            <a:spAutoFit/>
          </a:bodyPr>
          <a:lstStyle/>
          <a:p>
            <a:pPr algn="l" marL="182880" indent="-182880">
              <a:spcAft>
                <a:spcPts val="384"/>
              </a:spcAft>
              <a:buClr>
                <a:srgbClr val="CE1126"/>
              </a:buClr>
              <a:buFont typeface="Arial"/>
              <a:buChar char="•"/>
            </a:pPr>
            <a:r>
              <a:rPr sz="1100" b="0">
                <a:solidFill>
                  <a:srgbClr val="6E6259"/>
                </a:solidFill>
                <a:latin typeface="Open Sans"/>
              </a:rPr>
              <a:t>Copies by default; your originals stay put.</a:t>
            </a:r>
          </a:p>
          <a:p>
            <a:pPr algn="l" marL="182880" indent="-182880">
              <a:spcAft>
                <a:spcPts val="384"/>
              </a:spcAft>
              <a:buClr>
                <a:srgbClr val="CE1126"/>
              </a:buClr>
              <a:buFont typeface="Arial"/>
              <a:buChar char="•"/>
            </a:pPr>
            <a:r>
              <a:rPr sz="1100" b="0">
                <a:solidFill>
                  <a:srgbClr val="6E6259"/>
                </a:solidFill>
                <a:latin typeface="Open Sans"/>
              </a:rPr>
              <a:t>manifest.csv maps every old path to its new one.</a:t>
            </a:r>
          </a:p>
          <a:p>
            <a:pPr algn="l" marL="182880" indent="-182880">
              <a:spcAft>
                <a:spcPts val="384"/>
              </a:spcAft>
              <a:buClr>
                <a:srgbClr val="CE1126"/>
              </a:buClr>
              <a:buFont typeface="Arial"/>
              <a:buChar char="•"/>
            </a:pPr>
            <a:r>
              <a:rPr sz="1100" b="0">
                <a:solidFill>
                  <a:srgbClr val="6E6259"/>
                </a:solidFill>
                <a:latin typeface="Open Sans"/>
              </a:rPr>
              <a:t>Also writes README, MIAPPE, Croissant, FAIR report.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0936" y="365760"/>
            <a:ext cx="7882127" cy="603504"/>
          </a:xfrm>
          <a:prstGeom prst="rect">
            <a:avLst/>
          </a:prstGeom>
          <a:noFill/>
        </p:spPr>
        <p:txBody>
          <a:bodyPr wrap="square" anchor="b" lIns="36576" rIns="36576" tIns="18288" bIns="18288">
            <a:spAutoFit/>
          </a:bodyPr>
          <a:lstStyle/>
          <a:p>
            <a:r>
              <a:rPr sz="2200" b="1">
                <a:solidFill>
                  <a:srgbClr val="C8102E"/>
                </a:solidFill>
                <a:latin typeface="Merriweather"/>
              </a:rPr>
              <a:t>Last mile: license, deposit, check, cite</a:t>
            </a:r>
          </a:p>
        </p:txBody>
      </p:sp>
      <p:cxnSp>
        <p:nvCxnSpPr>
          <p:cNvPr id="3" name="Connector 2"/>
          <p:cNvCxnSpPr/>
          <p:nvPr/>
        </p:nvCxnSpPr>
        <p:spPr>
          <a:xfrm>
            <a:off x="630936" y="1028700"/>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936" y="4846320"/>
            <a:ext cx="7882127" cy="228600"/>
          </a:xfrm>
          <a:prstGeom prst="rect">
            <a:avLst/>
          </a:prstGeom>
          <a:noFill/>
        </p:spPr>
        <p:txBody>
          <a:bodyPr wrap="square" anchor="t" lIns="36576" rIns="36576" tIns="18288" bIns="18288">
            <a:spAutoFit/>
          </a:bodyPr>
          <a:lstStyle/>
          <a:p>
            <a:r>
              <a:rPr sz="800" b="0">
                <a:solidFill>
                  <a:srgbClr val="8C97A6"/>
                </a:solidFill>
                <a:latin typeface="Open Sans"/>
              </a:rPr>
              <a:t>FAIR Data Curation  ·  ISU TrAC</a:t>
            </a:r>
          </a:p>
        </p:txBody>
      </p:sp>
      <p:sp>
        <p:nvSpPr>
          <p:cNvPr id="5" name="TextBox 4"/>
          <p:cNvSpPr txBox="1"/>
          <p:nvPr/>
        </p:nvSpPr>
        <p:spPr>
          <a:xfrm>
            <a:off x="7863840" y="4846320"/>
            <a:ext cx="649224" cy="228600"/>
          </a:xfrm>
          <a:prstGeom prst="rect">
            <a:avLst/>
          </a:prstGeom>
          <a:noFill/>
        </p:spPr>
        <p:txBody>
          <a:bodyPr wrap="square" anchor="t" lIns="36576" rIns="36576" tIns="18288" bIns="18288">
            <a:spAutoFit/>
          </a:bodyPr>
          <a:lstStyle/>
          <a:p>
            <a:pPr algn="r"/>
            <a:r>
              <a:rPr sz="800" b="0">
                <a:solidFill>
                  <a:srgbClr val="8C97A6"/>
                </a:solidFill>
                <a:latin typeface="Open Sans"/>
              </a:rPr>
              <a:t>13</a:t>
            </a:r>
          </a:p>
        </p:txBody>
      </p:sp>
      <p:sp>
        <p:nvSpPr>
          <p:cNvPr id="6" name="TextBox 5"/>
          <p:cNvSpPr txBox="1"/>
          <p:nvPr/>
        </p:nvSpPr>
        <p:spPr>
          <a:xfrm>
            <a:off x="630936" y="1234440"/>
            <a:ext cx="4206240" cy="3429000"/>
          </a:xfrm>
          <a:prstGeom prst="rect">
            <a:avLst/>
          </a:prstGeom>
          <a:noFill/>
        </p:spPr>
        <p:txBody>
          <a:bodyPr wrap="square" anchor="t" lIns="36576" rIns="36576" tIns="18288" bIns="18288">
            <a:spAutoFit/>
          </a:bodyPr>
          <a:lstStyle/>
          <a:p>
            <a:pPr algn="l">
              <a:spcBef>
                <a:spcPts val="632"/>
              </a:spcBef>
              <a:spcAft>
                <a:spcPts val="100"/>
              </a:spcAft>
            </a:pPr>
            <a:r>
              <a:rPr sz="1200" b="1">
                <a:solidFill>
                  <a:srgbClr val="1B3A5C"/>
                </a:solidFill>
                <a:latin typeface="Open Sans"/>
              </a:rPr>
              <a:t>License</a:t>
            </a:r>
          </a:p>
          <a:p>
            <a:pPr algn="l">
              <a:spcAft>
                <a:spcPts val="402"/>
              </a:spcAft>
            </a:pPr>
            <a:r>
              <a:rPr sz="1150" b="0">
                <a:solidFill>
                  <a:srgbClr val="6E6259"/>
                </a:solidFill>
                <a:latin typeface="Open Sans"/>
              </a:rPr>
              <a:t>CC BY 4.0 for data, MIT for code. No license means nobody may legally reuse it.</a:t>
            </a:r>
          </a:p>
          <a:p>
            <a:pPr algn="l">
              <a:spcBef>
                <a:spcPts val="632"/>
              </a:spcBef>
              <a:spcAft>
                <a:spcPts val="100"/>
              </a:spcAft>
            </a:pPr>
            <a:r>
              <a:rPr sz="1200" b="1">
                <a:solidFill>
                  <a:srgbClr val="1B3A5C"/>
                </a:solidFill>
                <a:latin typeface="Open Sans"/>
              </a:rPr>
              <a:t>Deposit (this gives the DOI)</a:t>
            </a:r>
          </a:p>
          <a:p>
            <a:pPr algn="l">
              <a:spcAft>
                <a:spcPts val="402"/>
              </a:spcAft>
            </a:pPr>
            <a:r>
              <a:rPr sz="1150" b="0">
                <a:solidFill>
                  <a:srgbClr val="6E6259"/>
                </a:solidFill>
                <a:latin typeface="Open Sans"/>
              </a:rPr>
              <a:t>ISU DataShare · Zenodo · CyVerse Data Commons · Hugging Face (ML sets) · NCBI SRA (reads)</a:t>
            </a:r>
          </a:p>
          <a:p>
            <a:pPr algn="l">
              <a:spcBef>
                <a:spcPts val="632"/>
              </a:spcBef>
              <a:spcAft>
                <a:spcPts val="100"/>
              </a:spcAft>
            </a:pPr>
            <a:r>
              <a:rPr sz="1200" b="1">
                <a:solidFill>
                  <a:srgbClr val="1B3A5C"/>
                </a:solidFill>
                <a:latin typeface="Open Sans"/>
              </a:rPr>
              <a:t>Check</a:t>
            </a:r>
          </a:p>
          <a:p>
            <a:pPr algn="l">
              <a:spcAft>
                <a:spcPts val="402"/>
              </a:spcAft>
            </a:pPr>
            <a:r>
              <a:rPr sz="1150" b="0">
                <a:solidFill>
                  <a:srgbClr val="6E6259"/>
                </a:solidFill>
                <a:latin typeface="Open Sans"/>
              </a:rPr>
              <a:t>Run the DOI through </a:t>
            </a:r>
            <a:r>
              <a:rPr sz="1150" b="1">
                <a:solidFill>
                  <a:srgbClr val="222222"/>
                </a:solidFill>
                <a:latin typeface="Open Sans"/>
              </a:rPr>
              <a:t>F-UJI</a:t>
            </a:r>
            <a:r>
              <a:rPr sz="1150" b="0">
                <a:solidFill>
                  <a:srgbClr val="6E6259"/>
                </a:solidFill>
                <a:latin typeface="Open Sans"/>
              </a:rPr>
              <a:t>, a free automated FAIR checker; fix what fails.</a:t>
            </a:r>
          </a:p>
          <a:p>
            <a:pPr algn="l">
              <a:spcBef>
                <a:spcPts val="632"/>
              </a:spcBef>
              <a:spcAft>
                <a:spcPts val="100"/>
              </a:spcAft>
            </a:pPr>
            <a:r>
              <a:rPr sz="1200" b="1">
                <a:solidFill>
                  <a:srgbClr val="1B3A5C"/>
                </a:solidFill>
                <a:latin typeface="Open Sans"/>
              </a:rPr>
              <a:t>Cite</a:t>
            </a:r>
          </a:p>
          <a:p>
            <a:pPr algn="l">
              <a:spcAft>
                <a:spcPts val="402"/>
              </a:spcAft>
            </a:pPr>
            <a:r>
              <a:rPr sz="1150" b="0">
                <a:solidFill>
                  <a:srgbClr val="6E6259"/>
                </a:solidFill>
                <a:latin typeface="Open Sans"/>
              </a:rPr>
              <a:t>Put the DOI in the paper's data-availability statement. Papers linking data in a repository saw up to </a:t>
            </a:r>
            <a:r>
              <a:rPr sz="1150" b="1">
                <a:solidFill>
                  <a:srgbClr val="222222"/>
                </a:solidFill>
                <a:latin typeface="Open Sans"/>
              </a:rPr>
              <a:t>25% more citations</a:t>
            </a:r>
            <a:r>
              <a:rPr sz="1150" b="0">
                <a:solidFill>
                  <a:srgbClr val="6E6259"/>
                </a:solidFill>
                <a:latin typeface="Open Sans"/>
              </a:rPr>
              <a:t> (an association, not proof).</a:t>
            </a:r>
          </a:p>
        </p:txBody>
      </p:sp>
      <p:pic>
        <p:nvPicPr>
          <p:cNvPr id="7" name="Picture 6" descr="app_fair.png"/>
          <p:cNvPicPr>
            <a:picLocks noChangeAspect="1"/>
          </p:cNvPicPr>
          <p:nvPr/>
        </p:nvPicPr>
        <p:blipFill>
          <a:blip r:embed="rId2"/>
          <a:stretch>
            <a:fillRect/>
          </a:stretch>
        </p:blipFill>
        <p:spPr>
          <a:xfrm>
            <a:off x="5029200" y="1261872"/>
            <a:ext cx="3756732" cy="3310128"/>
          </a:xfrm>
          <a:prstGeom prst="rect">
            <a:avLst/>
          </a:prstGeom>
          <a:ln w="9525">
            <a:solidFill>
              <a:srgbClr val="C9CFD6"/>
            </a:solidFill>
          </a:ln>
        </p:spPr>
      </p:pic>
      <p:sp>
        <p:nvSpPr>
          <p:cNvPr id="8" name="TextBox 7"/>
          <p:cNvSpPr txBox="1"/>
          <p:nvPr/>
        </p:nvSpPr>
        <p:spPr>
          <a:xfrm>
            <a:off x="630936" y="4645152"/>
            <a:ext cx="7882127" cy="201168"/>
          </a:xfrm>
          <a:prstGeom prst="rect">
            <a:avLst/>
          </a:prstGeom>
          <a:noFill/>
        </p:spPr>
        <p:txBody>
          <a:bodyPr wrap="square" anchor="t" lIns="36576" rIns="36576" tIns="18288" bIns="18288">
            <a:spAutoFit/>
          </a:bodyPr>
          <a:lstStyle/>
          <a:p>
            <a:r>
              <a:rPr sz="800" b="0">
                <a:solidFill>
                  <a:srgbClr val="8C97A6"/>
                </a:solidFill>
                <a:latin typeface="Open Sans"/>
              </a:rPr>
              <a:t>Source: Colavizza et al., PLOS ONE 2020; Devaraju &amp; Huber, Patterns 2021 (F-UJI).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0936" y="365760"/>
            <a:ext cx="7882127" cy="603504"/>
          </a:xfrm>
          <a:prstGeom prst="rect">
            <a:avLst/>
          </a:prstGeom>
          <a:noFill/>
        </p:spPr>
        <p:txBody>
          <a:bodyPr wrap="square" anchor="b" lIns="36576" rIns="36576" tIns="18288" bIns="18288">
            <a:spAutoFit/>
          </a:bodyPr>
          <a:lstStyle/>
          <a:p>
            <a:r>
              <a:rPr sz="2200" b="1">
                <a:solidFill>
                  <a:srgbClr val="C8102E"/>
                </a:solidFill>
                <a:latin typeface="Merriweather"/>
              </a:rPr>
              <a:t>Your job before next group meeting</a:t>
            </a:r>
          </a:p>
        </p:txBody>
      </p:sp>
      <p:cxnSp>
        <p:nvCxnSpPr>
          <p:cNvPr id="3" name="Connector 2"/>
          <p:cNvCxnSpPr/>
          <p:nvPr/>
        </p:nvCxnSpPr>
        <p:spPr>
          <a:xfrm>
            <a:off x="630936" y="1028700"/>
            <a:ext cx="7882128" cy="0"/>
          </a:xfrm>
          <a:prstGeom prst="line">
            <a:avLst/>
          </a:prstGeom>
          <a:ln w="19050">
            <a:solidFill>
              <a:srgbClr val="006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30936" y="4846320"/>
            <a:ext cx="7882127" cy="228600"/>
          </a:xfrm>
          <a:prstGeom prst="rect">
            <a:avLst/>
          </a:prstGeom>
          <a:noFill/>
        </p:spPr>
        <p:txBody>
          <a:bodyPr wrap="square" anchor="t" lIns="36576" rIns="36576" tIns="18288" bIns="18288">
            <a:spAutoFit/>
          </a:bodyPr>
          <a:lstStyle/>
          <a:p>
            <a:r>
              <a:rPr sz="800" b="0">
                <a:solidFill>
                  <a:srgbClr val="8C97A6"/>
                </a:solidFill>
                <a:latin typeface="Open Sans"/>
              </a:rPr>
              <a:t>FAIR Data Curation  ·  ISU TrAC</a:t>
            </a:r>
          </a:p>
        </p:txBody>
      </p:sp>
      <p:sp>
        <p:nvSpPr>
          <p:cNvPr id="5" name="TextBox 4"/>
          <p:cNvSpPr txBox="1"/>
          <p:nvPr/>
        </p:nvSpPr>
        <p:spPr>
          <a:xfrm>
            <a:off x="7863840" y="4846320"/>
            <a:ext cx="649224" cy="228600"/>
          </a:xfrm>
          <a:prstGeom prst="rect">
            <a:avLst/>
          </a:prstGeom>
          <a:noFill/>
        </p:spPr>
        <p:txBody>
          <a:bodyPr wrap="square" anchor="t" lIns="36576" rIns="36576" tIns="18288" bIns="18288">
            <a:spAutoFit/>
          </a:bodyPr>
          <a:lstStyle/>
          <a:p>
            <a:pPr algn="r"/>
            <a:r>
              <a:rPr sz="800" b="0">
                <a:solidFill>
                  <a:srgbClr val="8C97A6"/>
                </a:solidFill>
                <a:latin typeface="Open Sans"/>
              </a:rPr>
              <a:t>14</a:t>
            </a:r>
          </a:p>
        </p:txBody>
      </p:sp>
      <p:sp>
        <p:nvSpPr>
          <p:cNvPr id="6" name="TextBox 5"/>
          <p:cNvSpPr txBox="1"/>
          <p:nvPr/>
        </p:nvSpPr>
        <p:spPr>
          <a:xfrm>
            <a:off x="630936" y="1280160"/>
            <a:ext cx="4663440" cy="2743200"/>
          </a:xfrm>
          <a:prstGeom prst="rect">
            <a:avLst/>
          </a:prstGeom>
          <a:noFill/>
        </p:spPr>
        <p:txBody>
          <a:bodyPr wrap="square" anchor="t" lIns="36576" rIns="36576" tIns="18288" bIns="18288">
            <a:spAutoFit/>
          </a:bodyPr>
          <a:lstStyle/>
          <a:p>
            <a:pPr algn="l" marL="182880" indent="-182880">
              <a:spcAft>
                <a:spcPts val="489"/>
              </a:spcAft>
              <a:buClr>
                <a:srgbClr val="CE1126"/>
              </a:buClr>
              <a:buFont typeface="Arial"/>
              <a:buChar char="•"/>
            </a:pPr>
            <a:r>
              <a:rPr sz="1400" b="1">
                <a:solidFill>
                  <a:srgbClr val="222222"/>
                </a:solidFill>
                <a:latin typeface="Open Sans"/>
              </a:rPr>
              <a:t>Pick</a:t>
            </a:r>
            <a:r>
              <a:rPr sz="1400" b="0">
                <a:solidFill>
                  <a:srgbClr val="6E6259"/>
                </a:solidFill>
                <a:latin typeface="Open Sans"/>
              </a:rPr>
              <a:t> one dataset you own.</a:t>
            </a:r>
          </a:p>
          <a:p>
            <a:pPr algn="l" marL="182880" indent="-182880">
              <a:spcAft>
                <a:spcPts val="489"/>
              </a:spcAft>
              <a:buClr>
                <a:srgbClr val="CE1126"/>
              </a:buClr>
              <a:buFont typeface="Arial"/>
              <a:buChar char="•"/>
            </a:pPr>
            <a:r>
              <a:rPr sz="1400" b="1">
                <a:solidFill>
                  <a:srgbClr val="222222"/>
                </a:solidFill>
                <a:latin typeface="Open Sans"/>
              </a:rPr>
              <a:t>Run</a:t>
            </a:r>
            <a:r>
              <a:rPr sz="1400" b="0">
                <a:solidFill>
                  <a:srgbClr val="6E6259"/>
                </a:solidFill>
                <a:latin typeface="Open Sans"/>
              </a:rPr>
              <a:t> it through FAIR Folder Curator and answer the interview.</a:t>
            </a:r>
          </a:p>
          <a:p>
            <a:pPr algn="l" marL="182880" indent="-182880">
              <a:spcAft>
                <a:spcPts val="489"/>
              </a:spcAft>
              <a:buClr>
                <a:srgbClr val="CE1126"/>
              </a:buClr>
              <a:buFont typeface="Arial"/>
              <a:buChar char="•"/>
            </a:pPr>
            <a:r>
              <a:rPr sz="1400" b="1">
                <a:solidFill>
                  <a:srgbClr val="222222"/>
                </a:solidFill>
                <a:latin typeface="Open Sans"/>
              </a:rPr>
              <a:t>Preview</a:t>
            </a:r>
            <a:r>
              <a:rPr sz="1400" b="0">
                <a:solidFill>
                  <a:srgbClr val="6E6259"/>
                </a:solidFill>
                <a:latin typeface="Open Sans"/>
              </a:rPr>
              <a:t>, then </a:t>
            </a:r>
            <a:r>
              <a:rPr sz="1400" b="1">
                <a:solidFill>
                  <a:srgbClr val="222222"/>
                </a:solidFill>
                <a:latin typeface="Open Sans"/>
              </a:rPr>
              <a:t>--apply</a:t>
            </a:r>
            <a:r>
              <a:rPr sz="1400" b="0">
                <a:solidFill>
                  <a:srgbClr val="6E6259"/>
                </a:solidFill>
                <a:latin typeface="Open Sans"/>
              </a:rPr>
              <a:t> organize.py (it copies; originals stay).</a:t>
            </a:r>
          </a:p>
          <a:p>
            <a:pPr algn="l" marL="182880" indent="-182880">
              <a:spcAft>
                <a:spcPts val="489"/>
              </a:spcAft>
              <a:buClr>
                <a:srgbClr val="CE1126"/>
              </a:buClr>
              <a:buFont typeface="Arial"/>
              <a:buChar char="•"/>
            </a:pPr>
            <a:r>
              <a:rPr sz="1400" b="1">
                <a:solidFill>
                  <a:srgbClr val="222222"/>
                </a:solidFill>
                <a:latin typeface="Open Sans"/>
              </a:rPr>
              <a:t>Fill</a:t>
            </a:r>
            <a:r>
              <a:rPr sz="1400" b="0">
                <a:solidFill>
                  <a:srgbClr val="6E6259"/>
                </a:solidFill>
                <a:latin typeface="Open Sans"/>
              </a:rPr>
              <a:t> the README blanks: processing steps, license, trait IDs.</a:t>
            </a:r>
          </a:p>
          <a:p>
            <a:pPr algn="l" marL="182880" indent="-182880">
              <a:spcAft>
                <a:spcPts val="489"/>
              </a:spcAft>
              <a:buClr>
                <a:srgbClr val="CE1126"/>
              </a:buClr>
              <a:buFont typeface="Arial"/>
              <a:buChar char="•"/>
            </a:pPr>
            <a:r>
              <a:rPr sz="1400" b="1">
                <a:solidFill>
                  <a:srgbClr val="222222"/>
                </a:solidFill>
                <a:latin typeface="Open Sans"/>
              </a:rPr>
              <a:t>Bring</a:t>
            </a:r>
            <a:r>
              <a:rPr sz="1400" b="0">
                <a:solidFill>
                  <a:srgbClr val="6E6259"/>
                </a:solidFill>
                <a:latin typeface="Open Sans"/>
              </a:rPr>
              <a:t> your before and after FAIR score.</a:t>
            </a:r>
          </a:p>
        </p:txBody>
      </p:sp>
      <p:sp>
        <p:nvSpPr>
          <p:cNvPr id="7" name="Rectangle 6"/>
          <p:cNvSpPr/>
          <p:nvPr/>
        </p:nvSpPr>
        <p:spPr>
          <a:xfrm>
            <a:off x="5532120" y="1280160"/>
            <a:ext cx="2980944" cy="26974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41848" y="1353312"/>
            <a:ext cx="2761487" cy="2587752"/>
          </a:xfrm>
          <a:prstGeom prst="rect">
            <a:avLst/>
          </a:prstGeom>
          <a:noFill/>
        </p:spPr>
        <p:txBody>
          <a:bodyPr wrap="square" anchor="t" lIns="36576" rIns="36576" tIns="18288" bIns="18288">
            <a:spAutoFit/>
          </a:bodyPr>
          <a:lstStyle/>
          <a:p>
            <a:pPr>
              <a:spcAft>
                <a:spcPts val="300"/>
              </a:spcAft>
            </a:pPr>
            <a:r>
              <a:rPr sz="1250" b="1">
                <a:solidFill>
                  <a:srgbClr val="1B3A5C"/>
                </a:solidFill>
                <a:latin typeface="Open Sans"/>
              </a:rPr>
              <a:t>Everything is in one repo</a:t>
            </a:r>
          </a:p>
          <a:p>
            <a:r>
              <a:rPr sz="1100" b="0">
                <a:solidFill>
                  <a:srgbClr val="6E6259"/>
                </a:solidFill>
                <a:latin typeface="Open Sans"/>
              </a:rPr>
              <a:t>github.com/znjubery/fair-data-curation</a:t>
            </a:r>
          </a:p>
          <a:p/>
          <a:p>
            <a:r>
              <a:rPr sz="1100" b="0">
                <a:solidFill>
                  <a:srgbClr val="6E6259"/>
                </a:solidFill>
                <a:latin typeface="Open Sans"/>
              </a:rPr>
              <a:t>This talk (PPTX, Beamer, PDF), the Folder Curator app, the FAIR lesson, and the excerpt images.</a:t>
            </a:r>
          </a:p>
        </p:txBody>
      </p:sp>
      <p:sp>
        <p:nvSpPr>
          <p:cNvPr id="9" name="Rectangle 8"/>
          <p:cNvSpPr/>
          <p:nvPr/>
        </p:nvSpPr>
        <p:spPr>
          <a:xfrm>
            <a:off x="630936" y="4069080"/>
            <a:ext cx="7882127" cy="5486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 y="4069080"/>
            <a:ext cx="64008"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5" y="4069080"/>
            <a:ext cx="7607807" cy="548640"/>
          </a:xfrm>
          <a:prstGeom prst="rect">
            <a:avLst/>
          </a:prstGeom>
          <a:noFill/>
        </p:spPr>
        <p:txBody>
          <a:bodyPr wrap="square" anchor="ctr" lIns="36576" rIns="36576" tIns="18288" bIns="18288">
            <a:spAutoFit/>
          </a:bodyPr>
          <a:lstStyle/>
          <a:p>
            <a:r>
              <a:rPr sz="1300" b="1">
                <a:solidFill>
                  <a:srgbClr val="222222"/>
                </a:solidFill>
                <a:latin typeface="Open Sans"/>
              </a:rPr>
              <a:t>FAIR in one line:</a:t>
            </a:r>
            <a:r>
              <a:rPr sz="1300" b="0">
                <a:solidFill>
                  <a:srgbClr val="222222"/>
                </a:solidFill>
                <a:latin typeface="Open Sans"/>
              </a:rPr>
              <a:t> a stranger, or a script, can find, open, understand, and legally reuse your data without emailing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